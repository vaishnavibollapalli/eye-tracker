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11795760"/>
  <p:notesSz cx="1179576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STIMULI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993392" y="1124712"/>
            <a:ext cx="2468880" cy="1563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6B6B6B">
                <a:alpha val="30000"/>
              </a:srgbClr>
            </a:outerShdw>
          </a:effectLst>
        </p:spPr>
      </p:sp>
      <p:pic>
        <p:nvPicPr>
          <p:cNvPr id="5" name="Image 0" descr="/sessions/optimistic-pensive-lamport/mnt/outputs/poster_assets/raw_hofman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0824" y="1152144"/>
            <a:ext cx="2414016" cy="1508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20824" y="271576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Armin Hofmann, 1955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681728" y="1124712"/>
            <a:ext cx="2468880" cy="1563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6B6B6B">
                <a:alpha val="30000"/>
              </a:srgbClr>
            </a:outerShdw>
          </a:effectLst>
        </p:spPr>
      </p:sp>
      <p:pic>
        <p:nvPicPr>
          <p:cNvPr id="8" name="Image 1" descr="/sessions/optimistic-pensive-lamport/mnt/outputs/poster_assets/raw_cec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52144"/>
            <a:ext cx="2414016" cy="1508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9160" y="271576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Barry Ceck, 1988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57200" y="2990088"/>
            <a:ext cx="8229600" cy="932688"/>
          </a:xfrm>
          <a:prstGeom prst="roundRect">
            <a:avLst>
              <a:gd name="adj" fmla="val 78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6B6B6B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13232" y="3328416"/>
            <a:ext cx="402336" cy="2494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850026" y="3384743"/>
            <a:ext cx="136794" cy="13679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Shape 9"/>
          <p:cNvSpPr/>
          <p:nvPr/>
        </p:nvSpPr>
        <p:spPr>
          <a:xfrm>
            <a:off x="8028432" y="3328416"/>
            <a:ext cx="402336" cy="2494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8165226" y="3384743"/>
            <a:ext cx="136794" cy="13679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1"/>
          <p:cNvSpPr/>
          <p:nvPr/>
        </p:nvSpPr>
        <p:spPr>
          <a:xfrm>
            <a:off x="1234440" y="3127248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EYE-TRACKING DATA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234440" y="3493008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participants  •  16-second exposure per poster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 flipH="1">
            <a:off x="2446020" y="3922776"/>
            <a:ext cx="2125980" cy="310896"/>
          </a:xfrm>
          <a:prstGeom prst="line">
            <a:avLst/>
          </a:prstGeom>
          <a:noFill/>
          <a:ln w="28575">
            <a:solidFill>
              <a:srgbClr val="B7BDC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0" y="3922776"/>
            <a:ext cx="2125980" cy="310896"/>
          </a:xfrm>
          <a:prstGeom prst="line">
            <a:avLst/>
          </a:prstGeom>
          <a:noFill/>
          <a:ln w="28575">
            <a:solidFill>
              <a:srgbClr val="B7BDC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4288536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0E7C86"/>
          </a:solidFill>
          <a:ln/>
          <a:effectLst>
            <a:outerShdw sx="100000" sy="100000" kx="0" ky="0" algn="bl" rotWithShape="0" blurRad="76200" dist="38100" dir="5400000">
              <a:srgbClr val="6B6B6B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06740" y="4568982"/>
            <a:ext cx="26152" cy="26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808970" y="4545208"/>
            <a:ext cx="26152" cy="26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18"/>
          <p:cNvSpPr/>
          <p:nvPr/>
        </p:nvSpPr>
        <p:spPr>
          <a:xfrm>
            <a:off x="785195" y="4652193"/>
            <a:ext cx="26152" cy="26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1060704" y="43616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COORDINATES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1060704" y="465429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D7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X, Y stream</a:t>
            </a:r>
            <a:endParaRPr lang="en-US" sz="930" dirty="0"/>
          </a:p>
        </p:txBody>
      </p:sp>
      <p:sp>
        <p:nvSpPr>
          <p:cNvPr id="25" name="Shape 21"/>
          <p:cNvSpPr/>
          <p:nvPr/>
        </p:nvSpPr>
        <p:spPr>
          <a:xfrm>
            <a:off x="4709160" y="4288536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5B3E96"/>
          </a:solidFill>
          <a:ln/>
          <a:effectLst>
            <a:outerShdw sx="100000" sy="100000" kx="0" ky="0" algn="bl" rotWithShape="0" blurRad="76200" dist="38100" dir="5400000">
              <a:srgbClr val="6B6B6B">
                <a:alpha val="3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962266" y="4541642"/>
            <a:ext cx="152156" cy="152156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019324" y="4598700"/>
            <a:ext cx="38039" cy="3803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4"/>
          <p:cNvSpPr/>
          <p:nvPr/>
        </p:nvSpPr>
        <p:spPr>
          <a:xfrm>
            <a:off x="5312664" y="43616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FIXATION EVENTS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5312664" y="465429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E3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I-VT filtered, X/Y + duration</a:t>
            </a:r>
            <a:endParaRPr lang="en-US" sz="930" dirty="0"/>
          </a:p>
        </p:txBody>
      </p:sp>
      <p:sp>
        <p:nvSpPr>
          <p:cNvPr id="30" name="Shape 26"/>
          <p:cNvSpPr/>
          <p:nvPr/>
        </p:nvSpPr>
        <p:spPr>
          <a:xfrm>
            <a:off x="2446020" y="4946904"/>
            <a:ext cx="2125980" cy="292608"/>
          </a:xfrm>
          <a:prstGeom prst="line">
            <a:avLst/>
          </a:prstGeom>
          <a:noFill/>
          <a:ln w="28575">
            <a:solidFill>
              <a:srgbClr val="B7BDC9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 flipH="1">
            <a:off x="4572000" y="4946904"/>
            <a:ext cx="2125980" cy="292608"/>
          </a:xfrm>
          <a:prstGeom prst="line">
            <a:avLst/>
          </a:prstGeom>
          <a:noFill/>
          <a:ln w="28575">
            <a:solidFill>
              <a:srgbClr val="B7BDC9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5294376"/>
            <a:ext cx="8229600" cy="1591056"/>
          </a:xfrm>
          <a:prstGeom prst="roundRect">
            <a:avLst>
              <a:gd name="adj" fmla="val 4598"/>
            </a:avLst>
          </a:prstGeom>
          <a:solidFill>
            <a:srgbClr val="E7E9EF"/>
          </a:solidFill>
          <a:ln/>
          <a:effectLst>
            <a:outerShdw sx="100000" sy="100000" kx="0" ky="0" algn="bl" rotWithShape="0" blurRad="76200" dist="38100" dir="5400000">
              <a:srgbClr val="6B6B6B">
                <a:alpha val="35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685800" y="5385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DATA PREPROCESSING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685800" y="5660136"/>
            <a:ext cx="7772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D9E3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22960" y="574243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Shape 32"/>
          <p:cNvSpPr/>
          <p:nvPr/>
        </p:nvSpPr>
        <p:spPr>
          <a:xfrm>
            <a:off x="910194" y="5829666"/>
            <a:ext cx="118140" cy="118140"/>
          </a:xfrm>
          <a:prstGeom prst="ellipse">
            <a:avLst/>
          </a:prstGeom>
          <a:ln w="20320">
            <a:solidFill>
              <a:srgbClr val="FFFFFF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969264" y="5850514"/>
            <a:ext cx="0" cy="38222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969264" y="5888736"/>
            <a:ext cx="29535" cy="0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1243584" y="5715000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Window Matching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1243584" y="5925312"/>
            <a:ext cx="7178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events isolate each poster's 16s window</a:t>
            </a:r>
            <a:endParaRPr lang="en-US" sz="860" dirty="0"/>
          </a:p>
        </p:txBody>
      </p:sp>
      <p:sp>
        <p:nvSpPr>
          <p:cNvPr id="41" name="Shape 37"/>
          <p:cNvSpPr/>
          <p:nvPr/>
        </p:nvSpPr>
        <p:spPr>
          <a:xfrm>
            <a:off x="685800" y="6190488"/>
            <a:ext cx="7772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D9E3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822960" y="627278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Shape 39"/>
          <p:cNvSpPr/>
          <p:nvPr/>
        </p:nvSpPr>
        <p:spPr>
          <a:xfrm>
            <a:off x="913668" y="6419088"/>
            <a:ext cx="111191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69264" y="6363492"/>
            <a:ext cx="0" cy="111191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32779" y="6382603"/>
            <a:ext cx="17374" cy="1737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Shape 42"/>
          <p:cNvSpPr/>
          <p:nvPr/>
        </p:nvSpPr>
        <p:spPr>
          <a:xfrm>
            <a:off x="995324" y="6427775"/>
            <a:ext cx="17374" cy="1737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Shape 43"/>
          <p:cNvSpPr/>
          <p:nvPr/>
        </p:nvSpPr>
        <p:spPr>
          <a:xfrm>
            <a:off x="969264" y="6372179"/>
            <a:ext cx="17374" cy="1737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8" name="Text 44"/>
          <p:cNvSpPr/>
          <p:nvPr/>
        </p:nvSpPr>
        <p:spPr>
          <a:xfrm>
            <a:off x="1243584" y="6245352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Fixation Pooling</a:t>
            </a:r>
            <a:endParaRPr lang="en-US" sz="1050" dirty="0"/>
          </a:p>
        </p:txBody>
      </p:sp>
      <p:sp>
        <p:nvSpPr>
          <p:cNvPr id="49" name="Text 45"/>
          <p:cNvSpPr/>
          <p:nvPr/>
        </p:nvSpPr>
        <p:spPr>
          <a:xfrm>
            <a:off x="1243584" y="6455664"/>
            <a:ext cx="7178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48 participants pooled per poster</a:t>
            </a:r>
            <a:endParaRPr lang="en-US" sz="860" dirty="0"/>
          </a:p>
        </p:txBody>
      </p:sp>
      <p:sp>
        <p:nvSpPr>
          <p:cNvPr id="50" name="Shape 46"/>
          <p:cNvSpPr/>
          <p:nvPr/>
        </p:nvSpPr>
        <p:spPr>
          <a:xfrm>
            <a:off x="4416552" y="6885432"/>
            <a:ext cx="310896" cy="256032"/>
          </a:xfrm>
          <a:prstGeom prst="downArrow">
            <a:avLst/>
          </a:prstGeom>
          <a:solidFill>
            <a:srgbClr val="B7BDC9"/>
          </a:solidFill>
          <a:ln/>
        </p:spPr>
      </p:sp>
      <p:sp>
        <p:nvSpPr>
          <p:cNvPr id="51" name="Shape 47"/>
          <p:cNvSpPr/>
          <p:nvPr/>
        </p:nvSpPr>
        <p:spPr>
          <a:xfrm>
            <a:off x="457200" y="7232904"/>
            <a:ext cx="5431536" cy="777240"/>
          </a:xfrm>
          <a:prstGeom prst="roundRect">
            <a:avLst>
              <a:gd name="adj" fmla="val 9412"/>
            </a:avLst>
          </a:prstGeom>
          <a:solidFill>
            <a:srgbClr val="E6402A"/>
          </a:solidFill>
          <a:ln/>
          <a:effectLst>
            <a:outerShdw sx="100000" sy="100000" kx="0" ky="0" algn="bl" rotWithShape="0" blurRad="76200" dist="38100" dir="5400000">
              <a:srgbClr val="6B6B6B">
                <a:alpha val="35000"/>
              </a:srgbClr>
            </a:outerShdw>
          </a:effectLst>
        </p:spPr>
      </p:sp>
      <p:sp>
        <p:nvSpPr>
          <p:cNvPr id="52" name="Shape 48"/>
          <p:cNvSpPr/>
          <p:nvPr/>
        </p:nvSpPr>
        <p:spPr>
          <a:xfrm>
            <a:off x="712500" y="7529352"/>
            <a:ext cx="184343" cy="184343"/>
          </a:xfrm>
          <a:prstGeom prst="ellipse">
            <a:avLst/>
          </a:prstGeom>
          <a:ln w="17780">
            <a:solidFill>
              <a:srgbClr val="FFFFFF"/>
            </a:solidFill>
            <a:prstDash val="dash"/>
          </a:ln>
        </p:spPr>
      </p:sp>
      <p:sp>
        <p:nvSpPr>
          <p:cNvPr id="53" name="Shape 49"/>
          <p:cNvSpPr/>
          <p:nvPr/>
        </p:nvSpPr>
        <p:spPr>
          <a:xfrm>
            <a:off x="753466" y="7590800"/>
            <a:ext cx="35844" cy="35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4" name="Shape 50"/>
          <p:cNvSpPr/>
          <p:nvPr/>
        </p:nvSpPr>
        <p:spPr>
          <a:xfrm>
            <a:off x="814913" y="7575438"/>
            <a:ext cx="35844" cy="35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Shape 51"/>
          <p:cNvSpPr/>
          <p:nvPr/>
        </p:nvSpPr>
        <p:spPr>
          <a:xfrm>
            <a:off x="786750" y="7642007"/>
            <a:ext cx="35844" cy="35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6" name="Text 52"/>
          <p:cNvSpPr/>
          <p:nvPr/>
        </p:nvSpPr>
        <p:spPr>
          <a:xfrm>
            <a:off x="1115568" y="7333488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CLUSTERING</a:t>
            </a:r>
            <a:endParaRPr lang="en-US" sz="1350" dirty="0"/>
          </a:p>
        </p:txBody>
      </p:sp>
      <p:sp>
        <p:nvSpPr>
          <p:cNvPr id="57" name="Text 53"/>
          <p:cNvSpPr/>
          <p:nvPr/>
        </p:nvSpPr>
        <p:spPr>
          <a:xfrm>
            <a:off x="1115568" y="7653528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B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region count — density-based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5998464" y="7493508"/>
            <a:ext cx="914034" cy="256032"/>
          </a:xfrm>
          <a:prstGeom prst="rightArrow">
            <a:avLst/>
          </a:prstGeom>
          <a:solidFill>
            <a:srgbClr val="5B3E96"/>
          </a:solidFill>
          <a:ln/>
        </p:spPr>
      </p:sp>
      <p:sp>
        <p:nvSpPr>
          <p:cNvPr id="59" name="Text 55"/>
          <p:cNvSpPr/>
          <p:nvPr/>
        </p:nvSpPr>
        <p:spPr>
          <a:xfrm>
            <a:off x="7127565" y="7328916"/>
            <a:ext cx="15592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7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100" dirty="0"/>
          </a:p>
        </p:txBody>
      </p:sp>
      <p:sp>
        <p:nvSpPr>
          <p:cNvPr id="60" name="Shape 56"/>
          <p:cNvSpPr/>
          <p:nvPr/>
        </p:nvSpPr>
        <p:spPr>
          <a:xfrm>
            <a:off x="3017520" y="8010144"/>
            <a:ext cx="310896" cy="237744"/>
          </a:xfrm>
          <a:prstGeom prst="downArrow">
            <a:avLst/>
          </a:prstGeom>
          <a:solidFill>
            <a:srgbClr val="B7BDC9"/>
          </a:solidFill>
          <a:ln/>
        </p:spPr>
      </p:sp>
      <p:sp>
        <p:nvSpPr>
          <p:cNvPr id="61" name="Shape 57"/>
          <p:cNvSpPr/>
          <p:nvPr/>
        </p:nvSpPr>
        <p:spPr>
          <a:xfrm>
            <a:off x="457200" y="8339328"/>
            <a:ext cx="8229600" cy="2468880"/>
          </a:xfrm>
          <a:prstGeom prst="roundRect">
            <a:avLst>
              <a:gd name="adj" fmla="val 296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6B6B6B">
                <a:alpha val="35000"/>
              </a:srgbClr>
            </a:outerShdw>
          </a:effectLst>
        </p:spPr>
      </p:sp>
      <p:sp>
        <p:nvSpPr>
          <p:cNvPr id="62" name="Text 58"/>
          <p:cNvSpPr/>
          <p:nvPr/>
        </p:nvSpPr>
        <p:spPr>
          <a:xfrm>
            <a:off x="731520" y="846734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MAPS</a:t>
            </a:r>
            <a:endParaRPr lang="en-US" sz="1350" dirty="0"/>
          </a:p>
        </p:txBody>
      </p:sp>
      <p:sp>
        <p:nvSpPr>
          <p:cNvPr id="63" name="Shape 59"/>
          <p:cNvSpPr/>
          <p:nvPr/>
        </p:nvSpPr>
        <p:spPr>
          <a:xfrm>
            <a:off x="2170712" y="8796528"/>
            <a:ext cx="2273272" cy="14630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4" name="Image 2" descr="/sessions/optimistic-pensive-lamport/mnt/outputs/poster_assets/gazepath_poster_ArminHofman-195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712" y="8796528"/>
            <a:ext cx="2273272" cy="1463040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2170712" y="10314432"/>
            <a:ext cx="227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Hofmann — 3 regions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4700016" y="8796528"/>
            <a:ext cx="2273272" cy="14630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7" name="Image 3" descr="/sessions/optimistic-pensive-lamport/mnt/outputs/poster_assets/gazepath_poster_BarryCeck-198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8796528"/>
            <a:ext cx="2273272" cy="1463040"/>
          </a:xfrm>
          <a:prstGeom prst="rect">
            <a:avLst/>
          </a:prstGeom>
        </p:spPr>
      </p:pic>
      <p:sp>
        <p:nvSpPr>
          <p:cNvPr id="68" name="Text 62"/>
          <p:cNvSpPr/>
          <p:nvPr/>
        </p:nvSpPr>
        <p:spPr>
          <a:xfrm>
            <a:off x="4700016" y="10314432"/>
            <a:ext cx="227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Ceck — 7 regions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2026-07-30T21:38:48Z</dcterms:created>
  <dcterms:modified xsi:type="dcterms:W3CDTF">2026-07-30T21:38:48Z</dcterms:modified>
</cp:coreProperties>
</file>