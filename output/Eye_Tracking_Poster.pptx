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8404800" cy="27432000"/>
  <p:notesSz cx="27432000" cy="38404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160" y="137160"/>
            <a:ext cx="38130480" cy="27157680"/>
          </a:xfrm>
          <a:prstGeom prst="rect">
            <a:avLst/>
          </a:prstGeom>
          <a:ln w="28575">
            <a:solidFill>
              <a:srgbClr val="1E2761"/>
            </a:solidFill>
            <a:prstDash val="solid"/>
          </a:ln>
        </p:spPr>
      </p:sp>
      <p:sp>
        <p:nvSpPr>
          <p:cNvPr id="3" name="Shape 1"/>
          <p:cNvSpPr/>
          <p:nvPr/>
        </p:nvSpPr>
        <p:spPr>
          <a:xfrm>
            <a:off x="0" y="0"/>
            <a:ext cx="38404800" cy="4114800"/>
          </a:xfrm>
          <a:prstGeom prst="rect">
            <a:avLst/>
          </a:prstGeom>
          <a:solidFill>
            <a:srgbClr val="1E2761"/>
          </a:solidFill>
          <a:ln/>
        </p:spPr>
      </p:sp>
      <p:sp>
        <p:nvSpPr>
          <p:cNvPr id="4" name="Shape 2"/>
          <p:cNvSpPr/>
          <p:nvPr/>
        </p:nvSpPr>
        <p:spPr>
          <a:xfrm>
            <a:off x="-1645920" y="-2194560"/>
            <a:ext cx="6858000" cy="6858000"/>
          </a:xfrm>
          <a:prstGeom prst="ellipse">
            <a:avLst/>
          </a:prstGeom>
          <a:solidFill>
            <a:srgbClr val="CADCFC">
              <a:alpha val="12000"/>
            </a:srgbClr>
          </a:solidFill>
          <a:ln/>
        </p:spPr>
      </p:sp>
      <p:sp>
        <p:nvSpPr>
          <p:cNvPr id="5" name="Shape 3"/>
          <p:cNvSpPr/>
          <p:nvPr/>
        </p:nvSpPr>
        <p:spPr>
          <a:xfrm>
            <a:off x="34290000" y="1463040"/>
            <a:ext cx="5120640" cy="5120640"/>
          </a:xfrm>
          <a:prstGeom prst="ellipse">
            <a:avLst/>
          </a:prstGeom>
          <a:solidFill>
            <a:srgbClr val="0E7C86">
              <a:alpha val="18000"/>
            </a:srgbClr>
          </a:solidFill>
          <a:ln/>
        </p:spPr>
      </p:sp>
      <p:sp>
        <p:nvSpPr>
          <p:cNvPr id="6" name="Shape 4"/>
          <p:cNvSpPr/>
          <p:nvPr/>
        </p:nvSpPr>
        <p:spPr>
          <a:xfrm>
            <a:off x="31821120" y="-1463040"/>
            <a:ext cx="3840480" cy="3840480"/>
          </a:xfrm>
          <a:prstGeom prst="ellipse">
            <a:avLst/>
          </a:prstGeom>
          <a:solidFill>
            <a:srgbClr val="E6402A">
              <a:alpha val="15000"/>
            </a:srgbClr>
          </a:solidFill>
          <a:ln/>
        </p:spPr>
      </p:sp>
      <p:sp>
        <p:nvSpPr>
          <p:cNvPr id="7" name="Shape 5"/>
          <p:cNvSpPr/>
          <p:nvPr/>
        </p:nvSpPr>
        <p:spPr>
          <a:xfrm>
            <a:off x="868680" y="1417320"/>
            <a:ext cx="1005840" cy="1005840"/>
          </a:xfrm>
          <a:prstGeom prst="ellipse">
            <a:avLst/>
          </a:prstGeom>
          <a:solidFill>
            <a:srgbClr val="E6402A"/>
          </a:solidFill>
          <a:ln/>
        </p:spPr>
      </p:sp>
      <p:sp>
        <p:nvSpPr>
          <p:cNvPr id="8" name="Shape 6"/>
          <p:cNvSpPr/>
          <p:nvPr/>
        </p:nvSpPr>
        <p:spPr>
          <a:xfrm>
            <a:off x="1029614" y="1739189"/>
            <a:ext cx="683971" cy="362102"/>
          </a:xfrm>
          <a:prstGeom prst="ellipse">
            <a:avLst/>
          </a:prstGeom>
          <a:solidFill>
            <a:srgbClr val="FFFFFF"/>
          </a:solidFill>
          <a:ln/>
        </p:spPr>
      </p:sp>
      <p:sp>
        <p:nvSpPr>
          <p:cNvPr id="9" name="Shape 7"/>
          <p:cNvSpPr/>
          <p:nvPr/>
        </p:nvSpPr>
        <p:spPr>
          <a:xfrm>
            <a:off x="1271016" y="1819656"/>
            <a:ext cx="201168" cy="201168"/>
          </a:xfrm>
          <a:prstGeom prst="ellipse">
            <a:avLst/>
          </a:prstGeom>
          <a:solidFill>
            <a:srgbClr val="1E2761"/>
          </a:solidFill>
          <a:ln/>
        </p:spPr>
      </p:sp>
      <p:sp>
        <p:nvSpPr>
          <p:cNvPr id="10" name="Shape 8"/>
          <p:cNvSpPr/>
          <p:nvPr/>
        </p:nvSpPr>
        <p:spPr>
          <a:xfrm>
            <a:off x="36530280" y="1417320"/>
            <a:ext cx="1005840" cy="1005840"/>
          </a:xfrm>
          <a:prstGeom prst="ellipse">
            <a:avLst/>
          </a:prstGeom>
          <a:solidFill>
            <a:srgbClr val="0E7C86"/>
          </a:solidFill>
          <a:ln/>
        </p:spPr>
      </p:sp>
      <p:sp>
        <p:nvSpPr>
          <p:cNvPr id="11" name="Shape 9"/>
          <p:cNvSpPr/>
          <p:nvPr/>
        </p:nvSpPr>
        <p:spPr>
          <a:xfrm>
            <a:off x="36691214" y="1739189"/>
            <a:ext cx="683971" cy="362102"/>
          </a:xfrm>
          <a:prstGeom prst="ellipse">
            <a:avLst/>
          </a:prstGeom>
          <a:solidFill>
            <a:srgbClr val="FFFFFF"/>
          </a:solidFill>
          <a:ln/>
        </p:spPr>
      </p:sp>
      <p:sp>
        <p:nvSpPr>
          <p:cNvPr id="12" name="Shape 10"/>
          <p:cNvSpPr/>
          <p:nvPr/>
        </p:nvSpPr>
        <p:spPr>
          <a:xfrm>
            <a:off x="36932616" y="1819656"/>
            <a:ext cx="201168" cy="201168"/>
          </a:xfrm>
          <a:prstGeom prst="ellipse">
            <a:avLst/>
          </a:prstGeom>
          <a:solidFill>
            <a:srgbClr val="1E2761"/>
          </a:solidFill>
          <a:ln/>
        </p:spPr>
      </p:sp>
      <p:sp>
        <p:nvSpPr>
          <p:cNvPr id="13" name="Text 11"/>
          <p:cNvSpPr/>
          <p:nvPr/>
        </p:nvSpPr>
        <p:spPr>
          <a:xfrm>
            <a:off x="2194560" y="365760"/>
            <a:ext cx="34015680" cy="1645920"/>
          </a:xfrm>
          <a:prstGeom prst="rect">
            <a:avLst/>
          </a:prstGeom>
          <a:noFill/>
          <a:ln/>
        </p:spPr>
        <p:txBody>
          <a:bodyPr wrap="square" lIns="0" tIns="0" rIns="0" bIns="0" rtlCol="0" anchor="ctr"/>
          <a:lstStyle/>
          <a:p>
            <a:pPr algn="ctr" indent="0" marL="0">
              <a:buNone/>
            </a:pPr>
            <a:r>
              <a:rPr lang="en-US" sz="5800" b="1" i="1" dirty="0">
                <a:solidFill>
                  <a:srgbClr val="FFFFFF"/>
                </a:solidFill>
                <a:latin typeface="Cambria" pitchFamily="34" charset="0"/>
                <a:ea typeface="Cambria" pitchFamily="34" charset="-122"/>
                <a:cs typeface="Cambria" pitchFamily="34" charset="-120"/>
              </a:rPr>
              <a:t>Where Do Eyes Go First?</a:t>
            </a:r>
            <a:endParaRPr lang="en-US" sz="5800" dirty="0"/>
          </a:p>
        </p:txBody>
      </p:sp>
      <p:sp>
        <p:nvSpPr>
          <p:cNvPr id="14" name="Text 12"/>
          <p:cNvSpPr/>
          <p:nvPr/>
        </p:nvSpPr>
        <p:spPr>
          <a:xfrm>
            <a:off x="2194560" y="1965960"/>
            <a:ext cx="34015680" cy="621792"/>
          </a:xfrm>
          <a:prstGeom prst="rect">
            <a:avLst/>
          </a:prstGeom>
          <a:noFill/>
          <a:ln/>
        </p:spPr>
        <p:txBody>
          <a:bodyPr wrap="square" lIns="0" tIns="0" rIns="0" bIns="0" rtlCol="0" anchor="ctr"/>
          <a:lstStyle/>
          <a:p>
            <a:pPr algn="ctr" indent="0" marL="0">
              <a:buNone/>
            </a:pPr>
            <a:r>
              <a:rPr lang="en-US" sz="2400" i="1" dirty="0">
                <a:solidFill>
                  <a:srgbClr val="CADCFC"/>
                </a:solidFill>
                <a:latin typeface="Calibri" pitchFamily="34" charset="0"/>
                <a:ea typeface="Calibri" pitchFamily="34" charset="-122"/>
                <a:cs typeface="Calibri" pitchFamily="34" charset="-120"/>
              </a:rPr>
              <a:t>A Data-Driven, Density-Based (DBSCAN) Analysis of Visual Attention on Graphic Design Posters</a:t>
            </a:r>
            <a:endParaRPr lang="en-US" sz="2400" dirty="0"/>
          </a:p>
        </p:txBody>
      </p:sp>
      <p:sp>
        <p:nvSpPr>
          <p:cNvPr id="15" name="Text 13"/>
          <p:cNvSpPr/>
          <p:nvPr/>
        </p:nvSpPr>
        <p:spPr>
          <a:xfrm>
            <a:off x="2194560" y="2606040"/>
            <a:ext cx="34015680" cy="548640"/>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Vishnavi Abhishikta Bollapalli, Ze Kai Yang, Jingyu Liu, Xinran Hu</a:t>
            </a:r>
            <a:endParaRPr lang="en-US" sz="2300" dirty="0"/>
          </a:p>
        </p:txBody>
      </p:sp>
      <p:sp>
        <p:nvSpPr>
          <p:cNvPr id="16" name="Text 14"/>
          <p:cNvSpPr/>
          <p:nvPr/>
        </p:nvSpPr>
        <p:spPr>
          <a:xfrm>
            <a:off x="2194560" y="3200400"/>
            <a:ext cx="34015680" cy="457200"/>
          </a:xfrm>
          <a:prstGeom prst="rect">
            <a:avLst/>
          </a:prstGeom>
          <a:noFill/>
          <a:ln/>
        </p:spPr>
        <p:txBody>
          <a:bodyPr wrap="square" lIns="0" tIns="0" rIns="0" bIns="0" rtlCol="0" anchor="ctr"/>
          <a:lstStyle/>
          <a:p>
            <a:pPr algn="ctr" indent="0" marL="0">
              <a:buNone/>
            </a:pPr>
            <a:r>
              <a:rPr lang="en-US" sz="1700" i="1" dirty="0">
                <a:solidFill>
                  <a:srgbClr val="CADCFC"/>
                </a:solidFill>
                <a:latin typeface="Calibri" pitchFamily="34" charset="0"/>
                <a:ea typeface="Calibri" pitchFamily="34" charset="-122"/>
                <a:cs typeface="Calibri" pitchFamily="34" charset="-120"/>
              </a:rPr>
              <a:t>TReNDS Center, Georgia State University  •  [edit institution / lab line as needed]</a:t>
            </a:r>
            <a:endParaRPr lang="en-US" sz="1700" dirty="0"/>
          </a:p>
        </p:txBody>
      </p:sp>
      <p:sp>
        <p:nvSpPr>
          <p:cNvPr id="17" name="Shape 15"/>
          <p:cNvSpPr/>
          <p:nvPr/>
        </p:nvSpPr>
        <p:spPr>
          <a:xfrm>
            <a:off x="548640" y="4434840"/>
            <a:ext cx="8778240" cy="22585680"/>
          </a:xfrm>
          <a:prstGeom prst="roundRect">
            <a:avLst>
              <a:gd name="adj" fmla="val 1042"/>
            </a:avLst>
          </a:prstGeom>
          <a:solidFill>
            <a:srgbClr val="FFFFFF"/>
          </a:solidFill>
          <a:ln w="15875">
            <a:solidFill>
              <a:srgbClr val="1E2761"/>
            </a:solidFill>
            <a:prstDash val="solid"/>
          </a:ln>
          <a:effectLst>
            <a:outerShdw sx="100000" sy="100000" kx="0" ky="0" algn="bl" rotWithShape="0" blurRad="101600" dist="38100" dir="5400000">
              <a:srgbClr val="8C8C8C">
                <a:alpha val="28000"/>
              </a:srgbClr>
            </a:outerShdw>
          </a:effectLst>
        </p:spPr>
      </p:sp>
      <p:sp>
        <p:nvSpPr>
          <p:cNvPr id="18" name="Shape 16"/>
          <p:cNvSpPr/>
          <p:nvPr/>
        </p:nvSpPr>
        <p:spPr>
          <a:xfrm>
            <a:off x="9692640" y="4434840"/>
            <a:ext cx="18288000" cy="22585680"/>
          </a:xfrm>
          <a:prstGeom prst="roundRect">
            <a:avLst>
              <a:gd name="adj" fmla="val 500"/>
            </a:avLst>
          </a:prstGeom>
          <a:solidFill>
            <a:srgbClr val="FFFFFF"/>
          </a:solidFill>
          <a:ln w="15875">
            <a:solidFill>
              <a:srgbClr val="1E2761"/>
            </a:solidFill>
            <a:prstDash val="solid"/>
          </a:ln>
          <a:effectLst>
            <a:outerShdw sx="100000" sy="100000" kx="0" ky="0" algn="bl" rotWithShape="0" blurRad="101600" dist="38100" dir="5400000">
              <a:srgbClr val="8C8C8C">
                <a:alpha val="28000"/>
              </a:srgbClr>
            </a:outerShdw>
          </a:effectLst>
        </p:spPr>
      </p:sp>
      <p:sp>
        <p:nvSpPr>
          <p:cNvPr id="19" name="Shape 17"/>
          <p:cNvSpPr/>
          <p:nvPr/>
        </p:nvSpPr>
        <p:spPr>
          <a:xfrm>
            <a:off x="28346400" y="4434840"/>
            <a:ext cx="9509760" cy="22585680"/>
          </a:xfrm>
          <a:prstGeom prst="roundRect">
            <a:avLst>
              <a:gd name="adj" fmla="val 962"/>
            </a:avLst>
          </a:prstGeom>
          <a:solidFill>
            <a:srgbClr val="FFFFFF"/>
          </a:solidFill>
          <a:ln w="15875">
            <a:solidFill>
              <a:srgbClr val="1E2761"/>
            </a:solidFill>
            <a:prstDash val="solid"/>
          </a:ln>
          <a:effectLst>
            <a:outerShdw sx="100000" sy="100000" kx="0" ky="0" algn="bl" rotWithShape="0" blurRad="101600" dist="38100" dir="5400000">
              <a:srgbClr val="8C8C8C">
                <a:alpha val="28000"/>
              </a:srgbClr>
            </a:outerShdw>
          </a:effectLst>
        </p:spPr>
      </p:sp>
      <p:sp>
        <p:nvSpPr>
          <p:cNvPr id="20" name="Shape 18"/>
          <p:cNvSpPr/>
          <p:nvPr/>
        </p:nvSpPr>
        <p:spPr>
          <a:xfrm>
            <a:off x="914400" y="4818888"/>
            <a:ext cx="713232" cy="713232"/>
          </a:xfrm>
          <a:prstGeom prst="ellipse">
            <a:avLst/>
          </a:prstGeom>
          <a:solidFill>
            <a:srgbClr val="E6402A"/>
          </a:solidFill>
          <a:ln/>
        </p:spPr>
      </p:sp>
      <p:sp>
        <p:nvSpPr>
          <p:cNvPr id="21" name="Shape 19"/>
          <p:cNvSpPr/>
          <p:nvPr/>
        </p:nvSpPr>
        <p:spPr>
          <a:xfrm>
            <a:off x="1028517" y="5047122"/>
            <a:ext cx="484998" cy="256764"/>
          </a:xfrm>
          <a:prstGeom prst="ellipse">
            <a:avLst/>
          </a:prstGeom>
          <a:solidFill>
            <a:srgbClr val="FFFFFF"/>
          </a:solidFill>
          <a:ln/>
        </p:spPr>
      </p:sp>
      <p:sp>
        <p:nvSpPr>
          <p:cNvPr id="22" name="Shape 20"/>
          <p:cNvSpPr/>
          <p:nvPr/>
        </p:nvSpPr>
        <p:spPr>
          <a:xfrm>
            <a:off x="1199693" y="5104181"/>
            <a:ext cx="142646" cy="142646"/>
          </a:xfrm>
          <a:prstGeom prst="ellipse">
            <a:avLst/>
          </a:prstGeom>
          <a:solidFill>
            <a:srgbClr val="1E2761"/>
          </a:solidFill>
          <a:ln/>
        </p:spPr>
      </p:sp>
      <p:sp>
        <p:nvSpPr>
          <p:cNvPr id="23" name="Text 21"/>
          <p:cNvSpPr/>
          <p:nvPr/>
        </p:nvSpPr>
        <p:spPr>
          <a:xfrm>
            <a:off x="1828800" y="4754880"/>
            <a:ext cx="7132320" cy="850392"/>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Introduction</a:t>
            </a:r>
            <a:endParaRPr lang="en-US" sz="3000" dirty="0"/>
          </a:p>
        </p:txBody>
      </p:sp>
      <p:sp>
        <p:nvSpPr>
          <p:cNvPr id="24" name="Text 22"/>
          <p:cNvSpPr/>
          <p:nvPr/>
        </p:nvSpPr>
        <p:spPr>
          <a:xfrm>
            <a:off x="914400" y="5760720"/>
            <a:ext cx="8046720" cy="3840480"/>
          </a:xfrm>
          <a:prstGeom prst="rect">
            <a:avLst/>
          </a:prstGeom>
          <a:noFill/>
          <a:ln/>
        </p:spPr>
        <p:txBody>
          <a:bodyPr wrap="square" lIns="0" tIns="0" rIns="0" bIns="0" rtlCol="0" anchor="t"/>
          <a:lstStyle/>
          <a:p>
            <a:pPr algn="l" marL="254000" indent="-254000">
              <a:lnSpc>
                <a:spcPct val="112000"/>
              </a:lnSpc>
              <a:spcAft>
                <a:spcPts val="1800"/>
              </a:spcAft>
              <a:buSzPct val="100000"/>
              <a:buChar char="●"/>
            </a:pPr>
            <a:r>
              <a:rPr lang="en-US" sz="1700" dirty="0">
                <a:solidFill>
                  <a:srgbClr val="333333"/>
                </a:solidFill>
                <a:latin typeface="Calibri" pitchFamily="34" charset="0"/>
                <a:ea typeface="Calibri" pitchFamily="34" charset="-122"/>
                <a:cs typeface="Calibri" pitchFamily="34" charset="-120"/>
              </a:rPr>
              <a:t>Designers constantly guess where a viewer's eyes will go on a poster — layout, type, and imagery choices are usually made on intuition, not evidence.</a:t>
            </a:r>
            <a:endParaRPr lang="en-US" sz="1700" dirty="0"/>
          </a:p>
          <a:p>
            <a:pPr algn="l" marL="254000" indent="-254000">
              <a:lnSpc>
                <a:spcPct val="112000"/>
              </a:lnSpc>
              <a:spcAft>
                <a:spcPts val="1800"/>
              </a:spcAft>
              <a:buSzPct val="100000"/>
              <a:buChar char="●"/>
            </a:pPr>
            <a:r>
              <a:rPr lang="en-US" sz="1700" dirty="0">
                <a:solidFill>
                  <a:srgbClr val="333333"/>
                </a:solidFill>
                <a:latin typeface="Calibri" pitchFamily="34" charset="0"/>
                <a:ea typeface="Calibri" pitchFamily="34" charset="-122"/>
                <a:cs typeface="Calibri" pitchFamily="34" charset="-120"/>
              </a:rPr>
              <a:t>This project asks that question with data: where does attention actually go, in what order, and for how long?</a:t>
            </a:r>
            <a:endParaRPr lang="en-US" sz="1700" dirty="0"/>
          </a:p>
          <a:p>
            <a:pPr algn="l" marL="254000" indent="-254000">
              <a:lnSpc>
                <a:spcPct val="112000"/>
              </a:lnSpc>
              <a:spcAft>
                <a:spcPts val="1800"/>
              </a:spcAft>
              <a:buSzPct val="100000"/>
              <a:buChar char="●"/>
            </a:pPr>
            <a:r>
              <a:rPr lang="en-US" sz="1700" dirty="0">
                <a:solidFill>
                  <a:srgbClr val="333333"/>
                </a:solidFill>
                <a:latin typeface="Calibri" pitchFamily="34" charset="0"/>
                <a:ea typeface="Calibri" pitchFamily="34" charset="-122"/>
                <a:cs typeface="Calibri" pitchFamily="34" charset="-120"/>
              </a:rPr>
              <a:t>Instead of hand-drawing regions of interest, we let 48 participants' real gaze data define the regions using density-based clustering (DBSCAN).</a:t>
            </a:r>
            <a:endParaRPr lang="en-US" sz="1700" dirty="0"/>
          </a:p>
          <a:p>
            <a:pPr algn="l" marL="254000" indent="-254000">
              <a:lnSpc>
                <a:spcPct val="112000"/>
              </a:lnSpc>
              <a:spcAft>
                <a:spcPts val="1800"/>
              </a:spcAft>
              <a:buSzPct val="100000"/>
              <a:buChar char="●"/>
            </a:pPr>
            <a:r>
              <a:rPr lang="en-US" sz="1700" dirty="0">
                <a:solidFill>
                  <a:srgbClr val="333333"/>
                </a:solidFill>
                <a:latin typeface="Calibri" pitchFamily="34" charset="0"/>
                <a:ea typeface="Calibri" pitchFamily="34" charset="-122"/>
                <a:cs typeface="Calibri" pitchFamily="34" charset="-120"/>
              </a:rPr>
              <a:t>Goal: evidence-based guidance for designers, and a test of whether unsupervised clustering can replace manual ROI annotation.</a:t>
            </a:r>
            <a:endParaRPr lang="en-US" sz="1700" dirty="0"/>
          </a:p>
        </p:txBody>
      </p:sp>
      <p:sp>
        <p:nvSpPr>
          <p:cNvPr id="25" name="Shape 23"/>
          <p:cNvSpPr/>
          <p:nvPr/>
        </p:nvSpPr>
        <p:spPr>
          <a:xfrm>
            <a:off x="914400" y="9939528"/>
            <a:ext cx="713232" cy="713232"/>
          </a:xfrm>
          <a:prstGeom prst="ellipse">
            <a:avLst/>
          </a:prstGeom>
          <a:solidFill>
            <a:srgbClr val="E6402A"/>
          </a:solidFill>
          <a:ln/>
        </p:spPr>
      </p:sp>
      <p:sp>
        <p:nvSpPr>
          <p:cNvPr id="26" name="Shape 24"/>
          <p:cNvSpPr/>
          <p:nvPr/>
        </p:nvSpPr>
        <p:spPr>
          <a:xfrm>
            <a:off x="1028517" y="10167762"/>
            <a:ext cx="484998" cy="256764"/>
          </a:xfrm>
          <a:prstGeom prst="ellipse">
            <a:avLst/>
          </a:prstGeom>
          <a:solidFill>
            <a:srgbClr val="FFFFFF"/>
          </a:solidFill>
          <a:ln/>
        </p:spPr>
      </p:sp>
      <p:sp>
        <p:nvSpPr>
          <p:cNvPr id="27" name="Shape 25"/>
          <p:cNvSpPr/>
          <p:nvPr/>
        </p:nvSpPr>
        <p:spPr>
          <a:xfrm>
            <a:off x="1199693" y="10224821"/>
            <a:ext cx="142646" cy="142646"/>
          </a:xfrm>
          <a:prstGeom prst="ellipse">
            <a:avLst/>
          </a:prstGeom>
          <a:solidFill>
            <a:srgbClr val="1E2761"/>
          </a:solidFill>
          <a:ln/>
        </p:spPr>
      </p:sp>
      <p:sp>
        <p:nvSpPr>
          <p:cNvPr id="28" name="Text 26"/>
          <p:cNvSpPr/>
          <p:nvPr/>
        </p:nvSpPr>
        <p:spPr>
          <a:xfrm>
            <a:off x="1828800" y="9875520"/>
            <a:ext cx="7132320" cy="850392"/>
          </a:xfrm>
          <a:prstGeom prst="rect">
            <a:avLst/>
          </a:prstGeom>
          <a:noFill/>
          <a:ln/>
        </p:spPr>
        <p:txBody>
          <a:bodyPr wrap="square" lIns="0" tIns="0" rIns="0" bIns="0" rtlCol="0" anchor="ctr"/>
          <a:lstStyle/>
          <a:p>
            <a:pPr algn="l" indent="0" marL="0">
              <a:buNone/>
            </a:pPr>
            <a:r>
              <a:rPr lang="en-US" sz="3000" b="1" dirty="0">
                <a:solidFill>
                  <a:srgbClr val="1E2761"/>
                </a:solidFill>
                <a:latin typeface="Cambria" pitchFamily="34" charset="0"/>
                <a:ea typeface="Cambria" pitchFamily="34" charset="-122"/>
                <a:cs typeface="Cambria" pitchFamily="34" charset="-120"/>
              </a:rPr>
              <a:t>Methods</a:t>
            </a:r>
            <a:endParaRPr lang="en-US" sz="3000" dirty="0"/>
          </a:p>
        </p:txBody>
      </p:sp>
      <p:sp>
        <p:nvSpPr>
          <p:cNvPr id="29" name="Text 27"/>
          <p:cNvSpPr/>
          <p:nvPr/>
        </p:nvSpPr>
        <p:spPr>
          <a:xfrm>
            <a:off x="914400" y="10881360"/>
            <a:ext cx="8046720" cy="2834640"/>
          </a:xfrm>
          <a:prstGeom prst="rect">
            <a:avLst/>
          </a:prstGeom>
          <a:noFill/>
          <a:ln/>
        </p:spPr>
        <p:txBody>
          <a:bodyPr wrap="square" lIns="0" tIns="0" rIns="0" bIns="0" rtlCol="0" anchor="t"/>
          <a:lstStyle/>
          <a:p>
            <a:pPr algn="l" marL="254000" indent="-254000">
              <a:lnSpc>
                <a:spcPct val="112000"/>
              </a:lnSpc>
              <a:spcAft>
                <a:spcPts val="1800"/>
              </a:spcAft>
              <a:buSzPct val="100000"/>
              <a:buChar char="●"/>
            </a:pPr>
            <a:r>
              <a:rPr lang="en-US" sz="1650" dirty="0">
                <a:solidFill>
                  <a:srgbClr val="333333"/>
                </a:solidFill>
                <a:latin typeface="Calibri" pitchFamily="34" charset="0"/>
                <a:ea typeface="Calibri" pitchFamily="34" charset="-122"/>
                <a:cs typeface="Calibri" pitchFamily="34" charset="-120"/>
              </a:rPr>
              <a:t>iMotions / Smart Eye Aurora eye-tracker; 48 participants; 16-second exposure per poster.</a:t>
            </a:r>
            <a:endParaRPr lang="en-US" sz="1650" dirty="0"/>
          </a:p>
          <a:p>
            <a:pPr algn="l" marL="254000" indent="-254000">
              <a:lnSpc>
                <a:spcPct val="112000"/>
              </a:lnSpc>
              <a:spcAft>
                <a:spcPts val="1800"/>
              </a:spcAft>
              <a:buSzPct val="100000"/>
              <a:buChar char="●"/>
            </a:pPr>
            <a:r>
              <a:rPr lang="en-US" sz="1650" dirty="0">
                <a:solidFill>
                  <a:srgbClr val="333333"/>
                </a:solidFill>
                <a:latin typeface="Calibri" pitchFamily="34" charset="0"/>
                <a:ea typeface="Calibri" pitchFamily="34" charset="-122"/>
                <a:cs typeface="Calibri" pitchFamily="34" charset="-120"/>
              </a:rPr>
              <a:t>Per participant: continuous gaze X/Y, I-VT fixation events (location, start/end, duration), and slide-event timestamps marking each poster's exposure window.</a:t>
            </a:r>
            <a:endParaRPr lang="en-US" sz="1650" dirty="0"/>
          </a:p>
          <a:p>
            <a:pPr algn="l" marL="254000" indent="-254000">
              <a:lnSpc>
                <a:spcPct val="112000"/>
              </a:lnSpc>
              <a:spcAft>
                <a:spcPts val="1800"/>
              </a:spcAft>
              <a:buSzPct val="100000"/>
              <a:buChar char="●"/>
            </a:pPr>
            <a:r>
              <a:rPr lang="en-US" sz="1650" dirty="0">
                <a:solidFill>
                  <a:srgbClr val="333333"/>
                </a:solidFill>
                <a:latin typeface="Calibri" pitchFamily="34" charset="0"/>
                <a:ea typeface="Calibri" pitchFamily="34" charset="-122"/>
                <a:cs typeface="Calibri" pitchFamily="34" charset="-120"/>
              </a:rPr>
              <a:t>Two posters analyzed here: Armin Hofmann (1955, typographic) and Barry Ceck (1988, busy/layered).</a:t>
            </a:r>
            <a:endParaRPr lang="en-US" sz="1650" dirty="0"/>
          </a:p>
        </p:txBody>
      </p:sp>
      <p:sp>
        <p:nvSpPr>
          <p:cNvPr id="30" name="Text 28"/>
          <p:cNvSpPr/>
          <p:nvPr/>
        </p:nvSpPr>
        <p:spPr>
          <a:xfrm>
            <a:off x="914400" y="14081760"/>
            <a:ext cx="804672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How It Works</a:t>
            </a:r>
            <a:endParaRPr lang="en-US" sz="1700" dirty="0"/>
          </a:p>
        </p:txBody>
      </p:sp>
      <p:sp>
        <p:nvSpPr>
          <p:cNvPr id="31" name="Shape 29"/>
          <p:cNvSpPr/>
          <p:nvPr/>
        </p:nvSpPr>
        <p:spPr>
          <a:xfrm>
            <a:off x="1298448" y="14996160"/>
            <a:ext cx="0" cy="3657600"/>
          </a:xfrm>
          <a:prstGeom prst="line">
            <a:avLst/>
          </a:prstGeom>
          <a:noFill/>
          <a:ln w="31750">
            <a:solidFill>
              <a:srgbClr val="C7CBD6"/>
            </a:solidFill>
            <a:prstDash val="solid"/>
          </a:ln>
        </p:spPr>
      </p:sp>
      <p:sp>
        <p:nvSpPr>
          <p:cNvPr id="32" name="Shape 30"/>
          <p:cNvSpPr/>
          <p:nvPr/>
        </p:nvSpPr>
        <p:spPr>
          <a:xfrm>
            <a:off x="1024128" y="14721840"/>
            <a:ext cx="548640" cy="548640"/>
          </a:xfrm>
          <a:prstGeom prst="ellipse">
            <a:avLst/>
          </a:prstGeom>
          <a:solidFill>
            <a:srgbClr val="1E2761"/>
          </a:solidFill>
          <a:ln w="25400">
            <a:solidFill>
              <a:srgbClr val="FFFFFF"/>
            </a:solidFill>
            <a:prstDash val="solid"/>
          </a:ln>
        </p:spPr>
      </p:sp>
      <p:sp>
        <p:nvSpPr>
          <p:cNvPr id="33" name="Text 31"/>
          <p:cNvSpPr/>
          <p:nvPr/>
        </p:nvSpPr>
        <p:spPr>
          <a:xfrm>
            <a:off x="1024128" y="1472184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4" name="Text 32"/>
          <p:cNvSpPr/>
          <p:nvPr/>
        </p:nvSpPr>
        <p:spPr>
          <a:xfrm>
            <a:off x="1773936" y="14666976"/>
            <a:ext cx="7187184" cy="658368"/>
          </a:xfrm>
          <a:prstGeom prst="rect">
            <a:avLst/>
          </a:prstGeom>
          <a:noFill/>
          <a:ln/>
        </p:spPr>
        <p:txBody>
          <a:bodyPr wrap="square" lIns="0" tIns="0" rIns="0" bIns="0" rtlCol="0" anchor="ctr"/>
          <a:lstStyle/>
          <a:p>
            <a:pPr algn="l" indent="0" marL="0">
              <a:lnSpc>
                <a:spcPct val="105000"/>
              </a:lnSpc>
              <a:buNone/>
            </a:pPr>
            <a:r>
              <a:rPr lang="en-US" sz="1350" b="1" dirty="0">
                <a:solidFill>
                  <a:srgbClr val="1E2761"/>
                </a:solidFill>
                <a:latin typeface="Calibri" pitchFamily="34" charset="0"/>
                <a:ea typeface="Calibri" pitchFamily="34" charset="-122"/>
                <a:cs typeface="Calibri" pitchFamily="34" charset="-120"/>
              </a:rPr>
              <a:t>Raw Samples</a:t>
            </a:r>
            <a:endParaRPr lang="en-US" sz="1350" dirty="0"/>
          </a:p>
          <a:p>
            <a:pPr algn="l" indent="0" marL="0">
              <a:lnSpc>
                <a:spcPct val="105000"/>
              </a:lnSpc>
              <a:buNone/>
            </a:pPr>
            <a:r>
              <a:rPr lang="en-US" sz="1150" dirty="0">
                <a:solidFill>
                  <a:srgbClr val="5A5A5A"/>
                </a:solidFill>
                <a:latin typeface="Calibri" pitchFamily="34" charset="0"/>
                <a:ea typeface="Calibri" pitchFamily="34" charset="-122"/>
                <a:cs typeface="Calibri" pitchFamily="34" charset="-120"/>
              </a:rPr>
              <a:t>1920×1200 gaze coords, 48 participants</a:t>
            </a:r>
            <a:endParaRPr lang="en-US" sz="1350" dirty="0"/>
          </a:p>
        </p:txBody>
      </p:sp>
      <p:sp>
        <p:nvSpPr>
          <p:cNvPr id="35" name="Shape 33"/>
          <p:cNvSpPr/>
          <p:nvPr/>
        </p:nvSpPr>
        <p:spPr>
          <a:xfrm>
            <a:off x="1024128" y="15636240"/>
            <a:ext cx="548640" cy="548640"/>
          </a:xfrm>
          <a:prstGeom prst="ellipse">
            <a:avLst/>
          </a:prstGeom>
          <a:solidFill>
            <a:srgbClr val="0E7C86"/>
          </a:solidFill>
          <a:ln w="25400">
            <a:solidFill>
              <a:srgbClr val="FFFFFF"/>
            </a:solidFill>
            <a:prstDash val="solid"/>
          </a:ln>
        </p:spPr>
      </p:sp>
      <p:sp>
        <p:nvSpPr>
          <p:cNvPr id="36" name="Text 34"/>
          <p:cNvSpPr/>
          <p:nvPr/>
        </p:nvSpPr>
        <p:spPr>
          <a:xfrm>
            <a:off x="1024128" y="1563624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7" name="Text 35"/>
          <p:cNvSpPr/>
          <p:nvPr/>
        </p:nvSpPr>
        <p:spPr>
          <a:xfrm>
            <a:off x="1773936" y="15581376"/>
            <a:ext cx="7187184" cy="658368"/>
          </a:xfrm>
          <a:prstGeom prst="rect">
            <a:avLst/>
          </a:prstGeom>
          <a:noFill/>
          <a:ln/>
        </p:spPr>
        <p:txBody>
          <a:bodyPr wrap="square" lIns="0" tIns="0" rIns="0" bIns="0" rtlCol="0" anchor="ctr"/>
          <a:lstStyle/>
          <a:p>
            <a:pPr algn="l" indent="0" marL="0">
              <a:lnSpc>
                <a:spcPct val="105000"/>
              </a:lnSpc>
              <a:buNone/>
            </a:pPr>
            <a:r>
              <a:rPr lang="en-US" sz="1350" b="1" dirty="0">
                <a:solidFill>
                  <a:srgbClr val="1E2761"/>
                </a:solidFill>
                <a:latin typeface="Calibri" pitchFamily="34" charset="0"/>
                <a:ea typeface="Calibri" pitchFamily="34" charset="-122"/>
                <a:cs typeface="Calibri" pitchFamily="34" charset="-120"/>
              </a:rPr>
              <a:t>Fixation Events</a:t>
            </a:r>
            <a:endParaRPr lang="en-US" sz="1350" dirty="0"/>
          </a:p>
          <a:p>
            <a:pPr algn="l" indent="0" marL="0">
              <a:lnSpc>
                <a:spcPct val="105000"/>
              </a:lnSpc>
              <a:buNone/>
            </a:pPr>
            <a:r>
              <a:rPr lang="en-US" sz="1150" dirty="0">
                <a:solidFill>
                  <a:srgbClr val="5A5A5A"/>
                </a:solidFill>
                <a:latin typeface="Calibri" pitchFamily="34" charset="0"/>
                <a:ea typeface="Calibri" pitchFamily="34" charset="-122"/>
                <a:cs typeface="Calibri" pitchFamily="34" charset="-120"/>
              </a:rPr>
              <a:t>I-VT filter → X, Y, start/end, duration</a:t>
            </a:r>
            <a:endParaRPr lang="en-US" sz="1350" dirty="0"/>
          </a:p>
        </p:txBody>
      </p:sp>
      <p:sp>
        <p:nvSpPr>
          <p:cNvPr id="38" name="Shape 36"/>
          <p:cNvSpPr/>
          <p:nvPr/>
        </p:nvSpPr>
        <p:spPr>
          <a:xfrm>
            <a:off x="1024128" y="16550640"/>
            <a:ext cx="548640" cy="548640"/>
          </a:xfrm>
          <a:prstGeom prst="ellipse">
            <a:avLst/>
          </a:prstGeom>
          <a:solidFill>
            <a:srgbClr val="1E2761"/>
          </a:solidFill>
          <a:ln w="25400">
            <a:solidFill>
              <a:srgbClr val="FFFFFF"/>
            </a:solidFill>
            <a:prstDash val="solid"/>
          </a:ln>
        </p:spPr>
      </p:sp>
      <p:sp>
        <p:nvSpPr>
          <p:cNvPr id="39" name="Text 37"/>
          <p:cNvSpPr/>
          <p:nvPr/>
        </p:nvSpPr>
        <p:spPr>
          <a:xfrm>
            <a:off x="1024128" y="1655064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0" name="Text 38"/>
          <p:cNvSpPr/>
          <p:nvPr/>
        </p:nvSpPr>
        <p:spPr>
          <a:xfrm>
            <a:off x="1773936" y="16495776"/>
            <a:ext cx="7187184" cy="658368"/>
          </a:xfrm>
          <a:prstGeom prst="rect">
            <a:avLst/>
          </a:prstGeom>
          <a:noFill/>
          <a:ln/>
        </p:spPr>
        <p:txBody>
          <a:bodyPr wrap="square" lIns="0" tIns="0" rIns="0" bIns="0" rtlCol="0" anchor="ctr"/>
          <a:lstStyle/>
          <a:p>
            <a:pPr algn="l" indent="0" marL="0">
              <a:lnSpc>
                <a:spcPct val="105000"/>
              </a:lnSpc>
              <a:buNone/>
            </a:pPr>
            <a:r>
              <a:rPr lang="en-US" sz="1350" b="1" dirty="0">
                <a:solidFill>
                  <a:srgbClr val="1E2761"/>
                </a:solidFill>
                <a:latin typeface="Calibri" pitchFamily="34" charset="0"/>
                <a:ea typeface="Calibri" pitchFamily="34" charset="-122"/>
                <a:cs typeface="Calibri" pitchFamily="34" charset="-120"/>
              </a:rPr>
              <a:t>Pooled Data</a:t>
            </a:r>
            <a:endParaRPr lang="en-US" sz="1350" dirty="0"/>
          </a:p>
          <a:p>
            <a:pPr algn="l" indent="0" marL="0">
              <a:lnSpc>
                <a:spcPct val="105000"/>
              </a:lnSpc>
              <a:buNone/>
            </a:pPr>
            <a:r>
              <a:rPr lang="en-US" sz="1150" dirty="0">
                <a:solidFill>
                  <a:srgbClr val="5A5A5A"/>
                </a:solidFill>
                <a:latin typeface="Calibri" pitchFamily="34" charset="0"/>
                <a:ea typeface="Calibri" pitchFamily="34" charset="-122"/>
                <a:cs typeface="Calibri" pitchFamily="34" charset="-120"/>
              </a:rPr>
              <a:t>All fixations pooled, 16-second window</a:t>
            </a:r>
            <a:endParaRPr lang="en-US" sz="1350" dirty="0"/>
          </a:p>
        </p:txBody>
      </p:sp>
      <p:sp>
        <p:nvSpPr>
          <p:cNvPr id="41" name="Shape 39"/>
          <p:cNvSpPr/>
          <p:nvPr/>
        </p:nvSpPr>
        <p:spPr>
          <a:xfrm>
            <a:off x="950976" y="17391888"/>
            <a:ext cx="694944" cy="694944"/>
          </a:xfrm>
          <a:prstGeom prst="ellipse">
            <a:avLst/>
          </a:prstGeom>
          <a:solidFill>
            <a:srgbClr val="E6402A"/>
          </a:solidFill>
          <a:ln w="25400">
            <a:solidFill>
              <a:srgbClr val="FFFFFF"/>
            </a:solidFill>
            <a:prstDash val="solid"/>
          </a:ln>
        </p:spPr>
      </p:sp>
      <p:sp>
        <p:nvSpPr>
          <p:cNvPr id="42" name="Text 40"/>
          <p:cNvSpPr/>
          <p:nvPr/>
        </p:nvSpPr>
        <p:spPr>
          <a:xfrm>
            <a:off x="950976" y="17391888"/>
            <a:ext cx="694944" cy="69494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3" name="Text 41"/>
          <p:cNvSpPr/>
          <p:nvPr/>
        </p:nvSpPr>
        <p:spPr>
          <a:xfrm>
            <a:off x="1847088" y="17410176"/>
            <a:ext cx="7114032" cy="658368"/>
          </a:xfrm>
          <a:prstGeom prst="rect">
            <a:avLst/>
          </a:prstGeom>
          <a:noFill/>
          <a:ln/>
        </p:spPr>
        <p:txBody>
          <a:bodyPr wrap="square" lIns="0" tIns="0" rIns="0" bIns="0" rtlCol="0" anchor="ctr"/>
          <a:lstStyle/>
          <a:p>
            <a:pPr algn="l" indent="0" marL="0">
              <a:lnSpc>
                <a:spcPct val="105000"/>
              </a:lnSpc>
              <a:buNone/>
            </a:pPr>
            <a:r>
              <a:rPr lang="en-US" sz="1350" b="1" dirty="0">
                <a:solidFill>
                  <a:srgbClr val="1E2761"/>
                </a:solidFill>
                <a:latin typeface="Calibri" pitchFamily="34" charset="0"/>
                <a:ea typeface="Calibri" pitchFamily="34" charset="-122"/>
                <a:cs typeface="Calibri" pitchFamily="34" charset="-120"/>
              </a:rPr>
              <a:t>DBSCAN</a:t>
            </a:r>
            <a:endParaRPr lang="en-US" sz="1350" dirty="0"/>
          </a:p>
          <a:p>
            <a:pPr algn="l" indent="0" marL="0">
              <a:lnSpc>
                <a:spcPct val="105000"/>
              </a:lnSpc>
              <a:buNone/>
            </a:pPr>
            <a:r>
              <a:rPr lang="en-US" sz="1150" dirty="0">
                <a:solidFill>
                  <a:srgbClr val="5A5A5A"/>
                </a:solidFill>
                <a:latin typeface="Calibri" pitchFamily="34" charset="0"/>
                <a:ea typeface="Calibri" pitchFamily="34" charset="-122"/>
                <a:cs typeface="Calibri" pitchFamily="34" charset="-120"/>
              </a:rPr>
              <a:t>Density clustering — no fixed region count</a:t>
            </a:r>
            <a:endParaRPr lang="en-US" sz="1350" dirty="0"/>
          </a:p>
        </p:txBody>
      </p:sp>
      <p:sp>
        <p:nvSpPr>
          <p:cNvPr id="44" name="Shape 42"/>
          <p:cNvSpPr/>
          <p:nvPr/>
        </p:nvSpPr>
        <p:spPr>
          <a:xfrm>
            <a:off x="1024128" y="18379440"/>
            <a:ext cx="548640" cy="548640"/>
          </a:xfrm>
          <a:prstGeom prst="ellipse">
            <a:avLst/>
          </a:prstGeom>
          <a:solidFill>
            <a:srgbClr val="0E7C86"/>
          </a:solidFill>
          <a:ln w="25400">
            <a:solidFill>
              <a:srgbClr val="FFFFFF"/>
            </a:solidFill>
            <a:prstDash val="solid"/>
          </a:ln>
        </p:spPr>
      </p:sp>
      <p:sp>
        <p:nvSpPr>
          <p:cNvPr id="45" name="Text 43"/>
          <p:cNvSpPr/>
          <p:nvPr/>
        </p:nvSpPr>
        <p:spPr>
          <a:xfrm>
            <a:off x="1024128" y="1837944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6" name="Text 44"/>
          <p:cNvSpPr/>
          <p:nvPr/>
        </p:nvSpPr>
        <p:spPr>
          <a:xfrm>
            <a:off x="1773936" y="18324576"/>
            <a:ext cx="7187184" cy="658368"/>
          </a:xfrm>
          <a:prstGeom prst="rect">
            <a:avLst/>
          </a:prstGeom>
          <a:noFill/>
          <a:ln/>
        </p:spPr>
        <p:txBody>
          <a:bodyPr wrap="square" lIns="0" tIns="0" rIns="0" bIns="0" rtlCol="0" anchor="ctr"/>
          <a:lstStyle/>
          <a:p>
            <a:pPr algn="l" indent="0" marL="0">
              <a:lnSpc>
                <a:spcPct val="105000"/>
              </a:lnSpc>
              <a:buNone/>
            </a:pPr>
            <a:r>
              <a:rPr lang="en-US" sz="1350" b="1" dirty="0">
                <a:solidFill>
                  <a:srgbClr val="1E2761"/>
                </a:solidFill>
                <a:latin typeface="Calibri" pitchFamily="34" charset="0"/>
                <a:ea typeface="Calibri" pitchFamily="34" charset="-122"/>
                <a:cs typeface="Calibri" pitchFamily="34" charset="-120"/>
              </a:rPr>
              <a:t>Region Stats</a:t>
            </a:r>
            <a:endParaRPr lang="en-US" sz="1350" dirty="0"/>
          </a:p>
          <a:p>
            <a:pPr algn="l" indent="0" marL="0">
              <a:lnSpc>
                <a:spcPct val="105000"/>
              </a:lnSpc>
              <a:buNone/>
            </a:pPr>
            <a:r>
              <a:rPr lang="en-US" sz="1150" dirty="0">
                <a:solidFill>
                  <a:srgbClr val="5A5A5A"/>
                </a:solidFill>
                <a:latin typeface="Calibri" pitchFamily="34" charset="0"/>
                <a:ea typeface="Calibri" pitchFamily="34" charset="-122"/>
                <a:cs typeface="Calibri" pitchFamily="34" charset="-120"/>
              </a:rPr>
              <a:t>% time, visit order, heatmaps</a:t>
            </a:r>
            <a:endParaRPr lang="en-US" sz="1350" dirty="0"/>
          </a:p>
        </p:txBody>
      </p:sp>
      <p:sp>
        <p:nvSpPr>
          <p:cNvPr id="47" name="Text 45"/>
          <p:cNvSpPr/>
          <p:nvPr/>
        </p:nvSpPr>
        <p:spPr>
          <a:xfrm>
            <a:off x="914400" y="19339560"/>
            <a:ext cx="8046720" cy="384048"/>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Before → After: DBSCAN in Action</a:t>
            </a:r>
            <a:endParaRPr lang="en-US" sz="1500" dirty="0"/>
          </a:p>
        </p:txBody>
      </p:sp>
      <p:sp>
        <p:nvSpPr>
          <p:cNvPr id="48" name="Shape 46"/>
          <p:cNvSpPr/>
          <p:nvPr/>
        </p:nvSpPr>
        <p:spPr>
          <a:xfrm>
            <a:off x="914400" y="19778472"/>
            <a:ext cx="3886200" cy="1920240"/>
          </a:xfrm>
          <a:prstGeom prst="roundRect">
            <a:avLst>
              <a:gd name="adj" fmla="val 2857"/>
            </a:avLst>
          </a:prstGeom>
          <a:solidFill>
            <a:srgbClr val="FBFBFD"/>
          </a:solidFill>
          <a:ln w="12700">
            <a:solidFill>
              <a:srgbClr val="D5D9E3"/>
            </a:solidFill>
            <a:prstDash val="solid"/>
          </a:ln>
        </p:spPr>
      </p:sp>
      <p:sp>
        <p:nvSpPr>
          <p:cNvPr id="49" name="Text 47"/>
          <p:cNvSpPr/>
          <p:nvPr/>
        </p:nvSpPr>
        <p:spPr>
          <a:xfrm>
            <a:off x="914400" y="21753576"/>
            <a:ext cx="3886200" cy="29260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Raw Fixations</a:t>
            </a:r>
            <a:endParaRPr lang="en-US" sz="1200" dirty="0"/>
          </a:p>
        </p:txBody>
      </p:sp>
      <p:sp>
        <p:nvSpPr>
          <p:cNvPr id="50" name="Shape 48"/>
          <p:cNvSpPr/>
          <p:nvPr/>
        </p:nvSpPr>
        <p:spPr>
          <a:xfrm>
            <a:off x="1858792" y="20181283"/>
            <a:ext cx="82296" cy="82296"/>
          </a:xfrm>
          <a:prstGeom prst="ellipse">
            <a:avLst/>
          </a:prstGeom>
          <a:solidFill>
            <a:srgbClr val="9AA0AE"/>
          </a:solidFill>
          <a:ln/>
        </p:spPr>
      </p:sp>
      <p:sp>
        <p:nvSpPr>
          <p:cNvPr id="51" name="Shape 49"/>
          <p:cNvSpPr/>
          <p:nvPr/>
        </p:nvSpPr>
        <p:spPr>
          <a:xfrm>
            <a:off x="2132381" y="20245804"/>
            <a:ext cx="82296" cy="82296"/>
          </a:xfrm>
          <a:prstGeom prst="ellipse">
            <a:avLst/>
          </a:prstGeom>
          <a:solidFill>
            <a:srgbClr val="9AA0AE"/>
          </a:solidFill>
          <a:ln/>
        </p:spPr>
      </p:sp>
      <p:sp>
        <p:nvSpPr>
          <p:cNvPr id="52" name="Shape 50"/>
          <p:cNvSpPr/>
          <p:nvPr/>
        </p:nvSpPr>
        <p:spPr>
          <a:xfrm>
            <a:off x="1721998" y="20374844"/>
            <a:ext cx="82296" cy="82296"/>
          </a:xfrm>
          <a:prstGeom prst="ellipse">
            <a:avLst/>
          </a:prstGeom>
          <a:solidFill>
            <a:srgbClr val="9AA0AE"/>
          </a:solidFill>
          <a:ln/>
        </p:spPr>
      </p:sp>
      <p:sp>
        <p:nvSpPr>
          <p:cNvPr id="53" name="Shape 51"/>
          <p:cNvSpPr/>
          <p:nvPr/>
        </p:nvSpPr>
        <p:spPr>
          <a:xfrm>
            <a:off x="1995587" y="20439364"/>
            <a:ext cx="82296" cy="82296"/>
          </a:xfrm>
          <a:prstGeom prst="ellipse">
            <a:avLst/>
          </a:prstGeom>
          <a:solidFill>
            <a:srgbClr val="9AA0AE"/>
          </a:solidFill>
          <a:ln/>
        </p:spPr>
      </p:sp>
      <p:sp>
        <p:nvSpPr>
          <p:cNvPr id="54" name="Shape 52"/>
          <p:cNvSpPr/>
          <p:nvPr/>
        </p:nvSpPr>
        <p:spPr>
          <a:xfrm>
            <a:off x="2269175" y="20213544"/>
            <a:ext cx="82296" cy="82296"/>
          </a:xfrm>
          <a:prstGeom prst="ellipse">
            <a:avLst/>
          </a:prstGeom>
          <a:solidFill>
            <a:srgbClr val="9AA0AE"/>
          </a:solidFill>
          <a:ln/>
        </p:spPr>
      </p:sp>
      <p:sp>
        <p:nvSpPr>
          <p:cNvPr id="55" name="Shape 53"/>
          <p:cNvSpPr/>
          <p:nvPr/>
        </p:nvSpPr>
        <p:spPr>
          <a:xfrm>
            <a:off x="1790395" y="20116763"/>
            <a:ext cx="82296" cy="82296"/>
          </a:xfrm>
          <a:prstGeom prst="ellipse">
            <a:avLst/>
          </a:prstGeom>
          <a:solidFill>
            <a:srgbClr val="9AA0AE"/>
          </a:solidFill>
          <a:ln/>
        </p:spPr>
      </p:sp>
      <p:sp>
        <p:nvSpPr>
          <p:cNvPr id="56" name="Shape 54"/>
          <p:cNvSpPr/>
          <p:nvPr/>
        </p:nvSpPr>
        <p:spPr>
          <a:xfrm>
            <a:off x="2063984" y="20342584"/>
            <a:ext cx="82296" cy="82296"/>
          </a:xfrm>
          <a:prstGeom prst="ellipse">
            <a:avLst/>
          </a:prstGeom>
          <a:solidFill>
            <a:srgbClr val="9AA0AE"/>
          </a:solidFill>
          <a:ln/>
        </p:spPr>
      </p:sp>
      <p:sp>
        <p:nvSpPr>
          <p:cNvPr id="57" name="Shape 55"/>
          <p:cNvSpPr/>
          <p:nvPr/>
        </p:nvSpPr>
        <p:spPr>
          <a:xfrm>
            <a:off x="1653601" y="20278064"/>
            <a:ext cx="82296" cy="82296"/>
          </a:xfrm>
          <a:prstGeom prst="ellipse">
            <a:avLst/>
          </a:prstGeom>
          <a:solidFill>
            <a:srgbClr val="9AA0AE"/>
          </a:solidFill>
          <a:ln/>
        </p:spPr>
      </p:sp>
      <p:sp>
        <p:nvSpPr>
          <p:cNvPr id="58" name="Shape 56"/>
          <p:cNvSpPr/>
          <p:nvPr/>
        </p:nvSpPr>
        <p:spPr>
          <a:xfrm>
            <a:off x="2200778" y="20407104"/>
            <a:ext cx="82296" cy="82296"/>
          </a:xfrm>
          <a:prstGeom prst="ellipse">
            <a:avLst/>
          </a:prstGeom>
          <a:solidFill>
            <a:srgbClr val="9AA0AE"/>
          </a:solidFill>
          <a:ln/>
        </p:spPr>
      </p:sp>
      <p:sp>
        <p:nvSpPr>
          <p:cNvPr id="59" name="Shape 57"/>
          <p:cNvSpPr/>
          <p:nvPr/>
        </p:nvSpPr>
        <p:spPr>
          <a:xfrm>
            <a:off x="2132381" y="20891004"/>
            <a:ext cx="82296" cy="82296"/>
          </a:xfrm>
          <a:prstGeom prst="ellipse">
            <a:avLst/>
          </a:prstGeom>
          <a:solidFill>
            <a:srgbClr val="9AA0AE"/>
          </a:solidFill>
          <a:ln/>
        </p:spPr>
      </p:sp>
      <p:sp>
        <p:nvSpPr>
          <p:cNvPr id="60" name="Shape 58"/>
          <p:cNvSpPr/>
          <p:nvPr/>
        </p:nvSpPr>
        <p:spPr>
          <a:xfrm>
            <a:off x="2405969" y="20987784"/>
            <a:ext cx="82296" cy="82296"/>
          </a:xfrm>
          <a:prstGeom prst="ellipse">
            <a:avLst/>
          </a:prstGeom>
          <a:solidFill>
            <a:srgbClr val="9AA0AE"/>
          </a:solidFill>
          <a:ln/>
        </p:spPr>
      </p:sp>
      <p:sp>
        <p:nvSpPr>
          <p:cNvPr id="61" name="Shape 59"/>
          <p:cNvSpPr/>
          <p:nvPr/>
        </p:nvSpPr>
        <p:spPr>
          <a:xfrm>
            <a:off x="1995587" y="21052304"/>
            <a:ext cx="82296" cy="82296"/>
          </a:xfrm>
          <a:prstGeom prst="ellipse">
            <a:avLst/>
          </a:prstGeom>
          <a:solidFill>
            <a:srgbClr val="9AA0AE"/>
          </a:solidFill>
          <a:ln/>
        </p:spPr>
      </p:sp>
      <p:sp>
        <p:nvSpPr>
          <p:cNvPr id="62" name="Shape 60"/>
          <p:cNvSpPr/>
          <p:nvPr/>
        </p:nvSpPr>
        <p:spPr>
          <a:xfrm>
            <a:off x="2269175" y="20858744"/>
            <a:ext cx="82296" cy="82296"/>
          </a:xfrm>
          <a:prstGeom prst="ellipse">
            <a:avLst/>
          </a:prstGeom>
          <a:solidFill>
            <a:srgbClr val="9AA0AE"/>
          </a:solidFill>
          <a:ln/>
        </p:spPr>
      </p:sp>
      <p:sp>
        <p:nvSpPr>
          <p:cNvPr id="63" name="Shape 61"/>
          <p:cNvSpPr/>
          <p:nvPr/>
        </p:nvSpPr>
        <p:spPr>
          <a:xfrm>
            <a:off x="2542764" y="21084564"/>
            <a:ext cx="82296" cy="82296"/>
          </a:xfrm>
          <a:prstGeom prst="ellipse">
            <a:avLst/>
          </a:prstGeom>
          <a:solidFill>
            <a:srgbClr val="9AA0AE"/>
          </a:solidFill>
          <a:ln/>
        </p:spPr>
      </p:sp>
      <p:sp>
        <p:nvSpPr>
          <p:cNvPr id="64" name="Shape 62"/>
          <p:cNvSpPr/>
          <p:nvPr/>
        </p:nvSpPr>
        <p:spPr>
          <a:xfrm>
            <a:off x="2063984" y="20987784"/>
            <a:ext cx="82296" cy="82296"/>
          </a:xfrm>
          <a:prstGeom prst="ellipse">
            <a:avLst/>
          </a:prstGeom>
          <a:solidFill>
            <a:srgbClr val="9AA0AE"/>
          </a:solidFill>
          <a:ln/>
        </p:spPr>
      </p:sp>
      <p:sp>
        <p:nvSpPr>
          <p:cNvPr id="65" name="Shape 63"/>
          <p:cNvSpPr/>
          <p:nvPr/>
        </p:nvSpPr>
        <p:spPr>
          <a:xfrm>
            <a:off x="2337572" y="20923264"/>
            <a:ext cx="82296" cy="82296"/>
          </a:xfrm>
          <a:prstGeom prst="ellipse">
            <a:avLst/>
          </a:prstGeom>
          <a:solidFill>
            <a:srgbClr val="9AA0AE"/>
          </a:solidFill>
          <a:ln/>
        </p:spPr>
      </p:sp>
      <p:sp>
        <p:nvSpPr>
          <p:cNvPr id="66" name="Shape 64"/>
          <p:cNvSpPr/>
          <p:nvPr/>
        </p:nvSpPr>
        <p:spPr>
          <a:xfrm>
            <a:off x="1927189" y="20891004"/>
            <a:ext cx="82296" cy="82296"/>
          </a:xfrm>
          <a:prstGeom prst="ellipse">
            <a:avLst/>
          </a:prstGeom>
          <a:solidFill>
            <a:srgbClr val="9AA0AE"/>
          </a:solidFill>
          <a:ln/>
        </p:spPr>
      </p:sp>
      <p:sp>
        <p:nvSpPr>
          <p:cNvPr id="67" name="Shape 65"/>
          <p:cNvSpPr/>
          <p:nvPr/>
        </p:nvSpPr>
        <p:spPr>
          <a:xfrm>
            <a:off x="2474366" y="21020044"/>
            <a:ext cx="82296" cy="82296"/>
          </a:xfrm>
          <a:prstGeom prst="ellipse">
            <a:avLst/>
          </a:prstGeom>
          <a:solidFill>
            <a:srgbClr val="9AA0AE"/>
          </a:solidFill>
          <a:ln/>
        </p:spPr>
      </p:sp>
      <p:sp>
        <p:nvSpPr>
          <p:cNvPr id="68" name="Shape 66"/>
          <p:cNvSpPr/>
          <p:nvPr/>
        </p:nvSpPr>
        <p:spPr>
          <a:xfrm>
            <a:off x="3431926" y="20568404"/>
            <a:ext cx="82296" cy="82296"/>
          </a:xfrm>
          <a:prstGeom prst="ellipse">
            <a:avLst/>
          </a:prstGeom>
          <a:solidFill>
            <a:srgbClr val="9AA0AE"/>
          </a:solidFill>
          <a:ln/>
        </p:spPr>
      </p:sp>
      <p:sp>
        <p:nvSpPr>
          <p:cNvPr id="69" name="Shape 67"/>
          <p:cNvSpPr/>
          <p:nvPr/>
        </p:nvSpPr>
        <p:spPr>
          <a:xfrm>
            <a:off x="3705515" y="20471624"/>
            <a:ext cx="82296" cy="82296"/>
          </a:xfrm>
          <a:prstGeom prst="ellipse">
            <a:avLst/>
          </a:prstGeom>
          <a:solidFill>
            <a:srgbClr val="9AA0AE"/>
          </a:solidFill>
          <a:ln/>
        </p:spPr>
      </p:sp>
      <p:sp>
        <p:nvSpPr>
          <p:cNvPr id="70" name="Shape 68"/>
          <p:cNvSpPr/>
          <p:nvPr/>
        </p:nvSpPr>
        <p:spPr>
          <a:xfrm>
            <a:off x="3568720" y="20697444"/>
            <a:ext cx="82296" cy="82296"/>
          </a:xfrm>
          <a:prstGeom prst="ellipse">
            <a:avLst/>
          </a:prstGeom>
          <a:solidFill>
            <a:srgbClr val="9AA0AE"/>
          </a:solidFill>
          <a:ln/>
        </p:spPr>
      </p:sp>
      <p:sp>
        <p:nvSpPr>
          <p:cNvPr id="71" name="Shape 69"/>
          <p:cNvSpPr/>
          <p:nvPr/>
        </p:nvSpPr>
        <p:spPr>
          <a:xfrm>
            <a:off x="3842309" y="20600664"/>
            <a:ext cx="82296" cy="82296"/>
          </a:xfrm>
          <a:prstGeom prst="ellipse">
            <a:avLst/>
          </a:prstGeom>
          <a:solidFill>
            <a:srgbClr val="9AA0AE"/>
          </a:solidFill>
          <a:ln/>
        </p:spPr>
      </p:sp>
      <p:sp>
        <p:nvSpPr>
          <p:cNvPr id="72" name="Shape 70"/>
          <p:cNvSpPr/>
          <p:nvPr/>
        </p:nvSpPr>
        <p:spPr>
          <a:xfrm>
            <a:off x="3363529" y="20761964"/>
            <a:ext cx="82296" cy="82296"/>
          </a:xfrm>
          <a:prstGeom prst="ellipse">
            <a:avLst/>
          </a:prstGeom>
          <a:solidFill>
            <a:srgbClr val="9AA0AE"/>
          </a:solidFill>
          <a:ln/>
        </p:spPr>
      </p:sp>
      <p:sp>
        <p:nvSpPr>
          <p:cNvPr id="73" name="Shape 71"/>
          <p:cNvSpPr/>
          <p:nvPr/>
        </p:nvSpPr>
        <p:spPr>
          <a:xfrm>
            <a:off x="3637117" y="20374844"/>
            <a:ext cx="82296" cy="82296"/>
          </a:xfrm>
          <a:prstGeom prst="ellipse">
            <a:avLst/>
          </a:prstGeom>
          <a:solidFill>
            <a:srgbClr val="9AA0AE"/>
          </a:solidFill>
          <a:ln/>
        </p:spPr>
      </p:sp>
      <p:sp>
        <p:nvSpPr>
          <p:cNvPr id="74" name="Shape 72"/>
          <p:cNvSpPr/>
          <p:nvPr/>
        </p:nvSpPr>
        <p:spPr>
          <a:xfrm>
            <a:off x="3910706" y="20729704"/>
            <a:ext cx="82296" cy="82296"/>
          </a:xfrm>
          <a:prstGeom prst="ellipse">
            <a:avLst/>
          </a:prstGeom>
          <a:solidFill>
            <a:srgbClr val="9AA0AE"/>
          </a:solidFill>
          <a:ln/>
        </p:spPr>
      </p:sp>
      <p:sp>
        <p:nvSpPr>
          <p:cNvPr id="75" name="Shape 73"/>
          <p:cNvSpPr/>
          <p:nvPr/>
        </p:nvSpPr>
        <p:spPr>
          <a:xfrm>
            <a:off x="3500323" y="20632924"/>
            <a:ext cx="82296" cy="82296"/>
          </a:xfrm>
          <a:prstGeom prst="ellipse">
            <a:avLst/>
          </a:prstGeom>
          <a:solidFill>
            <a:srgbClr val="9AA0AE"/>
          </a:solidFill>
          <a:ln/>
        </p:spPr>
      </p:sp>
      <p:sp>
        <p:nvSpPr>
          <p:cNvPr id="76" name="Shape 74"/>
          <p:cNvSpPr/>
          <p:nvPr/>
        </p:nvSpPr>
        <p:spPr>
          <a:xfrm>
            <a:off x="3773912" y="20794224"/>
            <a:ext cx="82296" cy="82296"/>
          </a:xfrm>
          <a:prstGeom prst="ellipse">
            <a:avLst/>
          </a:prstGeom>
          <a:solidFill>
            <a:srgbClr val="9AA0AE"/>
          </a:solidFill>
          <a:ln/>
        </p:spPr>
      </p:sp>
      <p:sp>
        <p:nvSpPr>
          <p:cNvPr id="77" name="Shape 75"/>
          <p:cNvSpPr/>
          <p:nvPr/>
        </p:nvSpPr>
        <p:spPr>
          <a:xfrm>
            <a:off x="2987345" y="21261995"/>
            <a:ext cx="82296" cy="82296"/>
          </a:xfrm>
          <a:prstGeom prst="ellipse">
            <a:avLst/>
          </a:prstGeom>
          <a:solidFill>
            <a:srgbClr val="9AA0AE"/>
          </a:solidFill>
          <a:ln/>
        </p:spPr>
      </p:sp>
      <p:sp>
        <p:nvSpPr>
          <p:cNvPr id="78" name="Shape 76"/>
          <p:cNvSpPr/>
          <p:nvPr/>
        </p:nvSpPr>
        <p:spPr>
          <a:xfrm>
            <a:off x="4252692" y="20149023"/>
            <a:ext cx="82296" cy="82296"/>
          </a:xfrm>
          <a:prstGeom prst="ellipse">
            <a:avLst/>
          </a:prstGeom>
          <a:solidFill>
            <a:srgbClr val="9AA0AE"/>
          </a:solidFill>
          <a:ln/>
        </p:spPr>
      </p:sp>
      <p:sp>
        <p:nvSpPr>
          <p:cNvPr id="79" name="Shape 77"/>
          <p:cNvSpPr/>
          <p:nvPr/>
        </p:nvSpPr>
        <p:spPr>
          <a:xfrm>
            <a:off x="1380012" y="21278125"/>
            <a:ext cx="82296" cy="82296"/>
          </a:xfrm>
          <a:prstGeom prst="ellipse">
            <a:avLst/>
          </a:prstGeom>
          <a:solidFill>
            <a:srgbClr val="9AA0AE"/>
          </a:solidFill>
          <a:ln/>
        </p:spPr>
      </p:sp>
      <p:sp>
        <p:nvSpPr>
          <p:cNvPr id="80" name="Shape 78"/>
          <p:cNvSpPr/>
          <p:nvPr/>
        </p:nvSpPr>
        <p:spPr>
          <a:xfrm>
            <a:off x="5074920" y="19778472"/>
            <a:ext cx="3886200" cy="1920240"/>
          </a:xfrm>
          <a:prstGeom prst="roundRect">
            <a:avLst>
              <a:gd name="adj" fmla="val 2857"/>
            </a:avLst>
          </a:prstGeom>
          <a:solidFill>
            <a:srgbClr val="FBFBFD"/>
          </a:solidFill>
          <a:ln w="12700">
            <a:solidFill>
              <a:srgbClr val="D5D9E3"/>
            </a:solidFill>
            <a:prstDash val="solid"/>
          </a:ln>
        </p:spPr>
      </p:sp>
      <p:sp>
        <p:nvSpPr>
          <p:cNvPr id="81" name="Text 79"/>
          <p:cNvSpPr/>
          <p:nvPr/>
        </p:nvSpPr>
        <p:spPr>
          <a:xfrm>
            <a:off x="5074920" y="21753576"/>
            <a:ext cx="3886200" cy="29260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DBSCAN Regions</a:t>
            </a:r>
            <a:endParaRPr lang="en-US" sz="1200" dirty="0"/>
          </a:p>
        </p:txBody>
      </p:sp>
      <p:sp>
        <p:nvSpPr>
          <p:cNvPr id="82" name="Shape 80"/>
          <p:cNvSpPr/>
          <p:nvPr/>
        </p:nvSpPr>
        <p:spPr>
          <a:xfrm>
            <a:off x="5652520" y="19815629"/>
            <a:ext cx="1028672" cy="1028672"/>
          </a:xfrm>
          <a:prstGeom prst="ellipse">
            <a:avLst/>
          </a:prstGeom>
          <a:solidFill>
            <a:srgbClr val="E6402A">
              <a:alpha val="12000"/>
            </a:srgbClr>
          </a:solidFill>
          <a:ln w="12700">
            <a:solidFill>
              <a:srgbClr val="E6402A">
                <a:alpha val="60000"/>
              </a:srgbClr>
            </a:solidFill>
            <a:prstDash val="solid"/>
          </a:ln>
        </p:spPr>
      </p:sp>
      <p:sp>
        <p:nvSpPr>
          <p:cNvPr id="83" name="Shape 81"/>
          <p:cNvSpPr/>
          <p:nvPr/>
        </p:nvSpPr>
        <p:spPr>
          <a:xfrm>
            <a:off x="6019312" y="20181283"/>
            <a:ext cx="82296" cy="82296"/>
          </a:xfrm>
          <a:prstGeom prst="ellipse">
            <a:avLst/>
          </a:prstGeom>
          <a:solidFill>
            <a:srgbClr val="E6402A"/>
          </a:solidFill>
          <a:ln/>
        </p:spPr>
      </p:sp>
      <p:sp>
        <p:nvSpPr>
          <p:cNvPr id="84" name="Shape 82"/>
          <p:cNvSpPr/>
          <p:nvPr/>
        </p:nvSpPr>
        <p:spPr>
          <a:xfrm>
            <a:off x="6292901" y="20245804"/>
            <a:ext cx="82296" cy="82296"/>
          </a:xfrm>
          <a:prstGeom prst="ellipse">
            <a:avLst/>
          </a:prstGeom>
          <a:solidFill>
            <a:srgbClr val="E6402A"/>
          </a:solidFill>
          <a:ln/>
        </p:spPr>
      </p:sp>
      <p:sp>
        <p:nvSpPr>
          <p:cNvPr id="85" name="Shape 83"/>
          <p:cNvSpPr/>
          <p:nvPr/>
        </p:nvSpPr>
        <p:spPr>
          <a:xfrm>
            <a:off x="5882518" y="20374844"/>
            <a:ext cx="82296" cy="82296"/>
          </a:xfrm>
          <a:prstGeom prst="ellipse">
            <a:avLst/>
          </a:prstGeom>
          <a:solidFill>
            <a:srgbClr val="E6402A"/>
          </a:solidFill>
          <a:ln/>
        </p:spPr>
      </p:sp>
      <p:sp>
        <p:nvSpPr>
          <p:cNvPr id="86" name="Shape 84"/>
          <p:cNvSpPr/>
          <p:nvPr/>
        </p:nvSpPr>
        <p:spPr>
          <a:xfrm>
            <a:off x="6156107" y="20439364"/>
            <a:ext cx="82296" cy="82296"/>
          </a:xfrm>
          <a:prstGeom prst="ellipse">
            <a:avLst/>
          </a:prstGeom>
          <a:solidFill>
            <a:srgbClr val="E6402A"/>
          </a:solidFill>
          <a:ln/>
        </p:spPr>
      </p:sp>
      <p:sp>
        <p:nvSpPr>
          <p:cNvPr id="87" name="Shape 85"/>
          <p:cNvSpPr/>
          <p:nvPr/>
        </p:nvSpPr>
        <p:spPr>
          <a:xfrm>
            <a:off x="6429695" y="20213544"/>
            <a:ext cx="82296" cy="82296"/>
          </a:xfrm>
          <a:prstGeom prst="ellipse">
            <a:avLst/>
          </a:prstGeom>
          <a:solidFill>
            <a:srgbClr val="E6402A"/>
          </a:solidFill>
          <a:ln/>
        </p:spPr>
      </p:sp>
      <p:sp>
        <p:nvSpPr>
          <p:cNvPr id="88" name="Shape 86"/>
          <p:cNvSpPr/>
          <p:nvPr/>
        </p:nvSpPr>
        <p:spPr>
          <a:xfrm>
            <a:off x="5950915" y="20116763"/>
            <a:ext cx="82296" cy="82296"/>
          </a:xfrm>
          <a:prstGeom prst="ellipse">
            <a:avLst/>
          </a:prstGeom>
          <a:solidFill>
            <a:srgbClr val="E6402A"/>
          </a:solidFill>
          <a:ln/>
        </p:spPr>
      </p:sp>
      <p:sp>
        <p:nvSpPr>
          <p:cNvPr id="89" name="Shape 87"/>
          <p:cNvSpPr/>
          <p:nvPr/>
        </p:nvSpPr>
        <p:spPr>
          <a:xfrm>
            <a:off x="6224504" y="20342584"/>
            <a:ext cx="82296" cy="82296"/>
          </a:xfrm>
          <a:prstGeom prst="ellipse">
            <a:avLst/>
          </a:prstGeom>
          <a:solidFill>
            <a:srgbClr val="E6402A"/>
          </a:solidFill>
          <a:ln/>
        </p:spPr>
      </p:sp>
      <p:sp>
        <p:nvSpPr>
          <p:cNvPr id="90" name="Shape 88"/>
          <p:cNvSpPr/>
          <p:nvPr/>
        </p:nvSpPr>
        <p:spPr>
          <a:xfrm>
            <a:off x="5814121" y="20278064"/>
            <a:ext cx="82296" cy="82296"/>
          </a:xfrm>
          <a:prstGeom prst="ellipse">
            <a:avLst/>
          </a:prstGeom>
          <a:solidFill>
            <a:srgbClr val="E6402A"/>
          </a:solidFill>
          <a:ln/>
        </p:spPr>
      </p:sp>
      <p:sp>
        <p:nvSpPr>
          <p:cNvPr id="91" name="Shape 89"/>
          <p:cNvSpPr/>
          <p:nvPr/>
        </p:nvSpPr>
        <p:spPr>
          <a:xfrm>
            <a:off x="6361298" y="20407104"/>
            <a:ext cx="82296" cy="82296"/>
          </a:xfrm>
          <a:prstGeom prst="ellipse">
            <a:avLst/>
          </a:prstGeom>
          <a:solidFill>
            <a:srgbClr val="E6402A"/>
          </a:solidFill>
          <a:ln/>
        </p:spPr>
      </p:sp>
      <p:sp>
        <p:nvSpPr>
          <p:cNvPr id="92" name="Shape 90"/>
          <p:cNvSpPr/>
          <p:nvPr/>
        </p:nvSpPr>
        <p:spPr>
          <a:xfrm>
            <a:off x="5913086" y="20480068"/>
            <a:ext cx="1054716" cy="1054716"/>
          </a:xfrm>
          <a:prstGeom prst="ellipse">
            <a:avLst/>
          </a:prstGeom>
          <a:solidFill>
            <a:srgbClr val="0E7C86">
              <a:alpha val="12000"/>
            </a:srgbClr>
          </a:solidFill>
          <a:ln w="12700">
            <a:solidFill>
              <a:srgbClr val="0E7C86">
                <a:alpha val="60000"/>
              </a:srgbClr>
            </a:solidFill>
            <a:prstDash val="solid"/>
          </a:ln>
        </p:spPr>
      </p:sp>
      <p:sp>
        <p:nvSpPr>
          <p:cNvPr id="93" name="Shape 91"/>
          <p:cNvSpPr/>
          <p:nvPr/>
        </p:nvSpPr>
        <p:spPr>
          <a:xfrm>
            <a:off x="6292901" y="20891004"/>
            <a:ext cx="82296" cy="82296"/>
          </a:xfrm>
          <a:prstGeom prst="ellipse">
            <a:avLst/>
          </a:prstGeom>
          <a:solidFill>
            <a:srgbClr val="0E7C86"/>
          </a:solidFill>
          <a:ln/>
        </p:spPr>
      </p:sp>
      <p:sp>
        <p:nvSpPr>
          <p:cNvPr id="94" name="Shape 92"/>
          <p:cNvSpPr/>
          <p:nvPr/>
        </p:nvSpPr>
        <p:spPr>
          <a:xfrm>
            <a:off x="6566489" y="20987784"/>
            <a:ext cx="82296" cy="82296"/>
          </a:xfrm>
          <a:prstGeom prst="ellipse">
            <a:avLst/>
          </a:prstGeom>
          <a:solidFill>
            <a:srgbClr val="0E7C86"/>
          </a:solidFill>
          <a:ln/>
        </p:spPr>
      </p:sp>
      <p:sp>
        <p:nvSpPr>
          <p:cNvPr id="95" name="Shape 93"/>
          <p:cNvSpPr/>
          <p:nvPr/>
        </p:nvSpPr>
        <p:spPr>
          <a:xfrm>
            <a:off x="6156107" y="21052304"/>
            <a:ext cx="82296" cy="82296"/>
          </a:xfrm>
          <a:prstGeom prst="ellipse">
            <a:avLst/>
          </a:prstGeom>
          <a:solidFill>
            <a:srgbClr val="0E7C86"/>
          </a:solidFill>
          <a:ln/>
        </p:spPr>
      </p:sp>
      <p:sp>
        <p:nvSpPr>
          <p:cNvPr id="96" name="Shape 94"/>
          <p:cNvSpPr/>
          <p:nvPr/>
        </p:nvSpPr>
        <p:spPr>
          <a:xfrm>
            <a:off x="6429695" y="20858744"/>
            <a:ext cx="82296" cy="82296"/>
          </a:xfrm>
          <a:prstGeom prst="ellipse">
            <a:avLst/>
          </a:prstGeom>
          <a:solidFill>
            <a:srgbClr val="0E7C86"/>
          </a:solidFill>
          <a:ln/>
        </p:spPr>
      </p:sp>
      <p:sp>
        <p:nvSpPr>
          <p:cNvPr id="97" name="Shape 95"/>
          <p:cNvSpPr/>
          <p:nvPr/>
        </p:nvSpPr>
        <p:spPr>
          <a:xfrm>
            <a:off x="6703284" y="21084564"/>
            <a:ext cx="82296" cy="82296"/>
          </a:xfrm>
          <a:prstGeom prst="ellipse">
            <a:avLst/>
          </a:prstGeom>
          <a:solidFill>
            <a:srgbClr val="0E7C86"/>
          </a:solidFill>
          <a:ln/>
        </p:spPr>
      </p:sp>
      <p:sp>
        <p:nvSpPr>
          <p:cNvPr id="98" name="Shape 96"/>
          <p:cNvSpPr/>
          <p:nvPr/>
        </p:nvSpPr>
        <p:spPr>
          <a:xfrm>
            <a:off x="6224504" y="20987784"/>
            <a:ext cx="82296" cy="82296"/>
          </a:xfrm>
          <a:prstGeom prst="ellipse">
            <a:avLst/>
          </a:prstGeom>
          <a:solidFill>
            <a:srgbClr val="0E7C86"/>
          </a:solidFill>
          <a:ln/>
        </p:spPr>
      </p:sp>
      <p:sp>
        <p:nvSpPr>
          <p:cNvPr id="99" name="Shape 97"/>
          <p:cNvSpPr/>
          <p:nvPr/>
        </p:nvSpPr>
        <p:spPr>
          <a:xfrm>
            <a:off x="6498092" y="20923264"/>
            <a:ext cx="82296" cy="82296"/>
          </a:xfrm>
          <a:prstGeom prst="ellipse">
            <a:avLst/>
          </a:prstGeom>
          <a:solidFill>
            <a:srgbClr val="0E7C86"/>
          </a:solidFill>
          <a:ln/>
        </p:spPr>
      </p:sp>
      <p:sp>
        <p:nvSpPr>
          <p:cNvPr id="100" name="Shape 98"/>
          <p:cNvSpPr/>
          <p:nvPr/>
        </p:nvSpPr>
        <p:spPr>
          <a:xfrm>
            <a:off x="6087709" y="20891004"/>
            <a:ext cx="82296" cy="82296"/>
          </a:xfrm>
          <a:prstGeom prst="ellipse">
            <a:avLst/>
          </a:prstGeom>
          <a:solidFill>
            <a:srgbClr val="0E7C86"/>
          </a:solidFill>
          <a:ln/>
        </p:spPr>
      </p:sp>
      <p:sp>
        <p:nvSpPr>
          <p:cNvPr id="101" name="Shape 99"/>
          <p:cNvSpPr/>
          <p:nvPr/>
        </p:nvSpPr>
        <p:spPr>
          <a:xfrm>
            <a:off x="6634886" y="21020044"/>
            <a:ext cx="82296" cy="82296"/>
          </a:xfrm>
          <a:prstGeom prst="ellipse">
            <a:avLst/>
          </a:prstGeom>
          <a:solidFill>
            <a:srgbClr val="0E7C86"/>
          </a:solidFill>
          <a:ln/>
        </p:spPr>
      </p:sp>
      <p:sp>
        <p:nvSpPr>
          <p:cNvPr id="102" name="Shape 100"/>
          <p:cNvSpPr/>
          <p:nvPr/>
        </p:nvSpPr>
        <p:spPr>
          <a:xfrm>
            <a:off x="7331997" y="20160115"/>
            <a:ext cx="1013576" cy="1013576"/>
          </a:xfrm>
          <a:prstGeom prst="ellipse">
            <a:avLst/>
          </a:prstGeom>
          <a:solidFill>
            <a:srgbClr val="D9971E">
              <a:alpha val="12000"/>
            </a:srgbClr>
          </a:solidFill>
          <a:ln w="12700">
            <a:solidFill>
              <a:srgbClr val="D9971E">
                <a:alpha val="60000"/>
              </a:srgbClr>
            </a:solidFill>
            <a:prstDash val="solid"/>
          </a:ln>
        </p:spPr>
      </p:sp>
      <p:sp>
        <p:nvSpPr>
          <p:cNvPr id="103" name="Shape 101"/>
          <p:cNvSpPr/>
          <p:nvPr/>
        </p:nvSpPr>
        <p:spPr>
          <a:xfrm>
            <a:off x="7592446" y="20568404"/>
            <a:ext cx="82296" cy="82296"/>
          </a:xfrm>
          <a:prstGeom prst="ellipse">
            <a:avLst/>
          </a:prstGeom>
          <a:solidFill>
            <a:srgbClr val="D9971E"/>
          </a:solidFill>
          <a:ln/>
        </p:spPr>
      </p:sp>
      <p:sp>
        <p:nvSpPr>
          <p:cNvPr id="104" name="Shape 102"/>
          <p:cNvSpPr/>
          <p:nvPr/>
        </p:nvSpPr>
        <p:spPr>
          <a:xfrm>
            <a:off x="7866035" y="20471624"/>
            <a:ext cx="82296" cy="82296"/>
          </a:xfrm>
          <a:prstGeom prst="ellipse">
            <a:avLst/>
          </a:prstGeom>
          <a:solidFill>
            <a:srgbClr val="D9971E"/>
          </a:solidFill>
          <a:ln/>
        </p:spPr>
      </p:sp>
      <p:sp>
        <p:nvSpPr>
          <p:cNvPr id="105" name="Shape 103"/>
          <p:cNvSpPr/>
          <p:nvPr/>
        </p:nvSpPr>
        <p:spPr>
          <a:xfrm>
            <a:off x="7729240" y="20697444"/>
            <a:ext cx="82296" cy="82296"/>
          </a:xfrm>
          <a:prstGeom prst="ellipse">
            <a:avLst/>
          </a:prstGeom>
          <a:solidFill>
            <a:srgbClr val="D9971E"/>
          </a:solidFill>
          <a:ln/>
        </p:spPr>
      </p:sp>
      <p:sp>
        <p:nvSpPr>
          <p:cNvPr id="106" name="Shape 104"/>
          <p:cNvSpPr/>
          <p:nvPr/>
        </p:nvSpPr>
        <p:spPr>
          <a:xfrm>
            <a:off x="8002829" y="20600664"/>
            <a:ext cx="82296" cy="82296"/>
          </a:xfrm>
          <a:prstGeom prst="ellipse">
            <a:avLst/>
          </a:prstGeom>
          <a:solidFill>
            <a:srgbClr val="D9971E"/>
          </a:solidFill>
          <a:ln/>
        </p:spPr>
      </p:sp>
      <p:sp>
        <p:nvSpPr>
          <p:cNvPr id="107" name="Shape 105"/>
          <p:cNvSpPr/>
          <p:nvPr/>
        </p:nvSpPr>
        <p:spPr>
          <a:xfrm>
            <a:off x="7524049" y="20761964"/>
            <a:ext cx="82296" cy="82296"/>
          </a:xfrm>
          <a:prstGeom prst="ellipse">
            <a:avLst/>
          </a:prstGeom>
          <a:solidFill>
            <a:srgbClr val="D9971E"/>
          </a:solidFill>
          <a:ln/>
        </p:spPr>
      </p:sp>
      <p:sp>
        <p:nvSpPr>
          <p:cNvPr id="108" name="Shape 106"/>
          <p:cNvSpPr/>
          <p:nvPr/>
        </p:nvSpPr>
        <p:spPr>
          <a:xfrm>
            <a:off x="7797637" y="20374844"/>
            <a:ext cx="82296" cy="82296"/>
          </a:xfrm>
          <a:prstGeom prst="ellipse">
            <a:avLst/>
          </a:prstGeom>
          <a:solidFill>
            <a:srgbClr val="D9971E"/>
          </a:solidFill>
          <a:ln/>
        </p:spPr>
      </p:sp>
      <p:sp>
        <p:nvSpPr>
          <p:cNvPr id="109" name="Shape 107"/>
          <p:cNvSpPr/>
          <p:nvPr/>
        </p:nvSpPr>
        <p:spPr>
          <a:xfrm>
            <a:off x="8071226" y="20729704"/>
            <a:ext cx="82296" cy="82296"/>
          </a:xfrm>
          <a:prstGeom prst="ellipse">
            <a:avLst/>
          </a:prstGeom>
          <a:solidFill>
            <a:srgbClr val="D9971E"/>
          </a:solidFill>
          <a:ln/>
        </p:spPr>
      </p:sp>
      <p:sp>
        <p:nvSpPr>
          <p:cNvPr id="110" name="Shape 108"/>
          <p:cNvSpPr/>
          <p:nvPr/>
        </p:nvSpPr>
        <p:spPr>
          <a:xfrm>
            <a:off x="7660843" y="20632924"/>
            <a:ext cx="82296" cy="82296"/>
          </a:xfrm>
          <a:prstGeom prst="ellipse">
            <a:avLst/>
          </a:prstGeom>
          <a:solidFill>
            <a:srgbClr val="D9971E"/>
          </a:solidFill>
          <a:ln/>
        </p:spPr>
      </p:sp>
      <p:sp>
        <p:nvSpPr>
          <p:cNvPr id="111" name="Shape 109"/>
          <p:cNvSpPr/>
          <p:nvPr/>
        </p:nvSpPr>
        <p:spPr>
          <a:xfrm>
            <a:off x="7934432" y="20794224"/>
            <a:ext cx="82296" cy="82296"/>
          </a:xfrm>
          <a:prstGeom prst="ellipse">
            <a:avLst/>
          </a:prstGeom>
          <a:solidFill>
            <a:srgbClr val="D9971E"/>
          </a:solidFill>
          <a:ln/>
        </p:spPr>
      </p:sp>
      <p:sp>
        <p:nvSpPr>
          <p:cNvPr id="112" name="Shape 110"/>
          <p:cNvSpPr/>
          <p:nvPr/>
        </p:nvSpPr>
        <p:spPr>
          <a:xfrm>
            <a:off x="7147865" y="21261995"/>
            <a:ext cx="82296" cy="82296"/>
          </a:xfrm>
          <a:prstGeom prst="ellipse">
            <a:avLst/>
          </a:prstGeom>
          <a:solidFill>
            <a:srgbClr val="B7BBC4"/>
          </a:solidFill>
          <a:ln/>
        </p:spPr>
      </p:sp>
      <p:sp>
        <p:nvSpPr>
          <p:cNvPr id="113" name="Shape 111"/>
          <p:cNvSpPr/>
          <p:nvPr/>
        </p:nvSpPr>
        <p:spPr>
          <a:xfrm>
            <a:off x="8413212" y="20149023"/>
            <a:ext cx="82296" cy="82296"/>
          </a:xfrm>
          <a:prstGeom prst="ellipse">
            <a:avLst/>
          </a:prstGeom>
          <a:solidFill>
            <a:srgbClr val="B7BBC4"/>
          </a:solidFill>
          <a:ln/>
        </p:spPr>
      </p:sp>
      <p:sp>
        <p:nvSpPr>
          <p:cNvPr id="114" name="Shape 112"/>
          <p:cNvSpPr/>
          <p:nvPr/>
        </p:nvSpPr>
        <p:spPr>
          <a:xfrm>
            <a:off x="5540532" y="21278125"/>
            <a:ext cx="82296" cy="82296"/>
          </a:xfrm>
          <a:prstGeom prst="ellipse">
            <a:avLst/>
          </a:prstGeom>
          <a:solidFill>
            <a:srgbClr val="B7BBC4"/>
          </a:solidFill>
          <a:ln/>
        </p:spPr>
      </p:sp>
      <p:sp>
        <p:nvSpPr>
          <p:cNvPr id="115" name="Text 113"/>
          <p:cNvSpPr/>
          <p:nvPr/>
        </p:nvSpPr>
        <p:spPr>
          <a:xfrm>
            <a:off x="914400" y="22027896"/>
            <a:ext cx="8046720" cy="457200"/>
          </a:xfrm>
          <a:prstGeom prst="rect">
            <a:avLst/>
          </a:prstGeom>
          <a:noFill/>
          <a:ln/>
        </p:spPr>
        <p:txBody>
          <a:bodyPr wrap="square" lIns="0" tIns="0" rIns="0" bIns="0" rtlCol="0" anchor="t"/>
          <a:lstStyle/>
          <a:p>
            <a:pPr algn="l" indent="0" marL="0">
              <a:lnSpc>
                <a:spcPct val="110000"/>
              </a:lnSpc>
              <a:buNone/>
            </a:pPr>
            <a:r>
              <a:rPr lang="en-US" sz="1100" i="1" dirty="0">
                <a:solidFill>
                  <a:srgbClr val="5A5A5A"/>
                </a:solidFill>
                <a:latin typeface="Calibri" pitchFamily="34" charset="0"/>
                <a:ea typeface="Calibri" pitchFamily="34" charset="-122"/>
                <a:cs typeface="Calibri" pitchFamily="34" charset="-120"/>
              </a:rPr>
              <a:t>Illustrative example — DBSCAN groups nearby fixations by density (color) and flags sparse points as noise (gray), without a preset number of regions.</a:t>
            </a:r>
            <a:endParaRPr lang="en-US" sz="1100" dirty="0"/>
          </a:p>
        </p:txBody>
      </p:sp>
      <p:sp>
        <p:nvSpPr>
          <p:cNvPr id="116" name="Shape 114"/>
          <p:cNvSpPr/>
          <p:nvPr/>
        </p:nvSpPr>
        <p:spPr>
          <a:xfrm>
            <a:off x="914400" y="22530816"/>
            <a:ext cx="8046720" cy="1417320"/>
          </a:xfrm>
          <a:prstGeom prst="roundRect">
            <a:avLst>
              <a:gd name="adj" fmla="val 3871"/>
            </a:avLst>
          </a:prstGeom>
          <a:solidFill>
            <a:srgbClr val="F4F5F8"/>
          </a:solidFill>
          <a:ln w="9525">
            <a:solidFill>
              <a:srgbClr val="D5D9E3"/>
            </a:solidFill>
            <a:prstDash val="solid"/>
          </a:ln>
        </p:spPr>
      </p:sp>
      <p:sp>
        <p:nvSpPr>
          <p:cNvPr id="117" name="Text 115"/>
          <p:cNvSpPr/>
          <p:nvPr/>
        </p:nvSpPr>
        <p:spPr>
          <a:xfrm>
            <a:off x="1097280" y="22649688"/>
            <a:ext cx="7680960" cy="1188720"/>
          </a:xfrm>
          <a:prstGeom prst="rect">
            <a:avLst/>
          </a:prstGeom>
          <a:noFill/>
          <a:ln/>
        </p:spPr>
        <p:txBody>
          <a:bodyPr wrap="square" lIns="0" tIns="0" rIns="0" bIns="0" rtlCol="0" anchor="t"/>
          <a:lstStyle/>
          <a:p>
            <a:pPr algn="l" indent="0" marL="0">
              <a:lnSpc>
                <a:spcPct val="114000"/>
              </a:lnSpc>
              <a:buNone/>
            </a:pPr>
            <a:r>
              <a:rPr lang="en-US" sz="1350" b="1" dirty="0">
                <a:solidFill>
                  <a:srgbClr val="1E2761"/>
                </a:solidFill>
                <a:latin typeface="Calibri" pitchFamily="34" charset="0"/>
                <a:ea typeface="Calibri" pitchFamily="34" charset="-122"/>
                <a:cs typeface="Calibri" pitchFamily="34" charset="-120"/>
              </a:rPr>
              <a:t>Why DBSCAN?  </a:t>
            </a:r>
            <a:pPr algn="l" indent="0" marL="0">
              <a:lnSpc>
                <a:spcPct val="114000"/>
              </a:lnSpc>
              <a:buNone/>
            </a:pPr>
            <a:r>
              <a:rPr lang="en-US" sz="1350" dirty="0">
                <a:solidFill>
                  <a:srgbClr val="333333"/>
                </a:solidFill>
                <a:latin typeface="Calibri" pitchFamily="34" charset="0"/>
                <a:ea typeface="Calibri" pitchFamily="34" charset="-122"/>
                <a:cs typeface="Calibri" pitchFamily="34" charset="-120"/>
              </a:rPr>
              <a:t>eps and min_samples were grid-searched per poster and chosen by silhouette score — no region count was set by hand.</a:t>
            </a:r>
            <a:endParaRPr lang="en-US" sz="1350" dirty="0"/>
          </a:p>
        </p:txBody>
      </p:sp>
      <p:sp>
        <p:nvSpPr>
          <p:cNvPr id="118" name="Text 116"/>
          <p:cNvSpPr/>
          <p:nvPr/>
        </p:nvSpPr>
        <p:spPr>
          <a:xfrm>
            <a:off x="914400" y="24222456"/>
            <a:ext cx="8046720" cy="3657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Chosen Parameters</a:t>
            </a:r>
            <a:endParaRPr lang="en-US" sz="1550" dirty="0"/>
          </a:p>
        </p:txBody>
      </p:sp>
      <p:sp>
        <p:nvSpPr>
          <p:cNvPr id="119" name="Shape 117"/>
          <p:cNvSpPr/>
          <p:nvPr/>
        </p:nvSpPr>
        <p:spPr>
          <a:xfrm>
            <a:off x="914400" y="24679656"/>
            <a:ext cx="3922776" cy="1371600"/>
          </a:xfrm>
          <a:prstGeom prst="roundRect">
            <a:avLst>
              <a:gd name="adj" fmla="val 4667"/>
            </a:avLst>
          </a:prstGeom>
          <a:solidFill>
            <a:srgbClr val="F4F5F8"/>
          </a:solidFill>
          <a:ln w="9525">
            <a:solidFill>
              <a:srgbClr val="D5D9E3"/>
            </a:solidFill>
            <a:prstDash val="solid"/>
          </a:ln>
        </p:spPr>
      </p:sp>
      <p:sp>
        <p:nvSpPr>
          <p:cNvPr id="120" name="Text 118"/>
          <p:cNvSpPr/>
          <p:nvPr/>
        </p:nvSpPr>
        <p:spPr>
          <a:xfrm>
            <a:off x="1005840" y="24789384"/>
            <a:ext cx="3739896" cy="740664"/>
          </a:xfrm>
          <a:prstGeom prst="rect">
            <a:avLst/>
          </a:prstGeom>
          <a:noFill/>
          <a:ln/>
        </p:spPr>
        <p:txBody>
          <a:bodyPr wrap="square" lIns="0" tIns="0" rIns="0" bIns="0" rtlCol="0" anchor="b"/>
          <a:lstStyle/>
          <a:p>
            <a:pPr algn="ctr" indent="0" marL="0">
              <a:buNone/>
            </a:pPr>
            <a:r>
              <a:rPr lang="en-US" sz="2100" b="1" dirty="0">
                <a:solidFill>
                  <a:srgbClr val="E6402A"/>
                </a:solidFill>
                <a:latin typeface="Cambria" pitchFamily="34" charset="0"/>
                <a:ea typeface="Cambria" pitchFamily="34" charset="-122"/>
                <a:cs typeface="Cambria" pitchFamily="34" charset="-120"/>
              </a:rPr>
              <a:t>30 / 35</a:t>
            </a:r>
            <a:endParaRPr lang="en-US" sz="2100" dirty="0"/>
          </a:p>
        </p:txBody>
      </p:sp>
      <p:sp>
        <p:nvSpPr>
          <p:cNvPr id="121" name="Text 119"/>
          <p:cNvSpPr/>
          <p:nvPr/>
        </p:nvSpPr>
        <p:spPr>
          <a:xfrm>
            <a:off x="1042416" y="25475184"/>
            <a:ext cx="3666744" cy="548640"/>
          </a:xfrm>
          <a:prstGeom prst="rect">
            <a:avLst/>
          </a:prstGeom>
          <a:noFill/>
          <a:ln/>
        </p:spPr>
        <p:txBody>
          <a:bodyPr wrap="square" lIns="0" tIns="0" rIns="0" bIns="0" rtlCol="0" anchor="t"/>
          <a:lstStyle/>
          <a:p>
            <a:pPr algn="ctr" indent="0" marL="0">
              <a:lnSpc>
                <a:spcPct val="100000"/>
              </a:lnSpc>
              <a:buNone/>
            </a:pPr>
            <a:r>
              <a:rPr lang="en-US" sz="1200" dirty="0">
                <a:solidFill>
                  <a:srgbClr val="5A5A5A"/>
                </a:solidFill>
                <a:latin typeface="Calibri" pitchFamily="34" charset="0"/>
                <a:ea typeface="Calibri" pitchFamily="34" charset="-122"/>
                <a:cs typeface="Calibri" pitchFamily="34" charset="-120"/>
              </a:rPr>
              <a:t>Hofmann — min_samples / eps</a:t>
            </a:r>
            <a:endParaRPr lang="en-US" sz="1200" dirty="0"/>
          </a:p>
        </p:txBody>
      </p:sp>
      <p:sp>
        <p:nvSpPr>
          <p:cNvPr id="122" name="Shape 120"/>
          <p:cNvSpPr/>
          <p:nvPr/>
        </p:nvSpPr>
        <p:spPr>
          <a:xfrm>
            <a:off x="5038344" y="24679656"/>
            <a:ext cx="3922776" cy="1371600"/>
          </a:xfrm>
          <a:prstGeom prst="roundRect">
            <a:avLst>
              <a:gd name="adj" fmla="val 4667"/>
            </a:avLst>
          </a:prstGeom>
          <a:solidFill>
            <a:srgbClr val="F4F5F8"/>
          </a:solidFill>
          <a:ln w="9525">
            <a:solidFill>
              <a:srgbClr val="D5D9E3"/>
            </a:solidFill>
            <a:prstDash val="solid"/>
          </a:ln>
        </p:spPr>
      </p:sp>
      <p:sp>
        <p:nvSpPr>
          <p:cNvPr id="123" name="Text 121"/>
          <p:cNvSpPr/>
          <p:nvPr/>
        </p:nvSpPr>
        <p:spPr>
          <a:xfrm>
            <a:off x="5129784" y="24789384"/>
            <a:ext cx="3739896" cy="740664"/>
          </a:xfrm>
          <a:prstGeom prst="rect">
            <a:avLst/>
          </a:prstGeom>
          <a:noFill/>
          <a:ln/>
        </p:spPr>
        <p:txBody>
          <a:bodyPr wrap="square" lIns="0" tIns="0" rIns="0" bIns="0" rtlCol="0" anchor="b"/>
          <a:lstStyle/>
          <a:p>
            <a:pPr algn="ctr" indent="0" marL="0">
              <a:buNone/>
            </a:pPr>
            <a:r>
              <a:rPr lang="en-US" sz="2100" b="1" dirty="0">
                <a:solidFill>
                  <a:srgbClr val="0E7C86"/>
                </a:solidFill>
                <a:latin typeface="Cambria" pitchFamily="34" charset="0"/>
                <a:ea typeface="Cambria" pitchFamily="34" charset="-122"/>
                <a:cs typeface="Cambria" pitchFamily="34" charset="-120"/>
              </a:rPr>
              <a:t>20 / 55</a:t>
            </a:r>
            <a:endParaRPr lang="en-US" sz="2100" dirty="0"/>
          </a:p>
        </p:txBody>
      </p:sp>
      <p:sp>
        <p:nvSpPr>
          <p:cNvPr id="124" name="Text 122"/>
          <p:cNvSpPr/>
          <p:nvPr/>
        </p:nvSpPr>
        <p:spPr>
          <a:xfrm>
            <a:off x="5166360" y="25475184"/>
            <a:ext cx="3666744" cy="548640"/>
          </a:xfrm>
          <a:prstGeom prst="rect">
            <a:avLst/>
          </a:prstGeom>
          <a:noFill/>
          <a:ln/>
        </p:spPr>
        <p:txBody>
          <a:bodyPr wrap="square" lIns="0" tIns="0" rIns="0" bIns="0" rtlCol="0" anchor="t"/>
          <a:lstStyle/>
          <a:p>
            <a:pPr algn="ctr" indent="0" marL="0">
              <a:lnSpc>
                <a:spcPct val="100000"/>
              </a:lnSpc>
              <a:buNone/>
            </a:pPr>
            <a:r>
              <a:rPr lang="en-US" sz="1200" dirty="0">
                <a:solidFill>
                  <a:srgbClr val="5A5A5A"/>
                </a:solidFill>
                <a:latin typeface="Calibri" pitchFamily="34" charset="0"/>
                <a:ea typeface="Calibri" pitchFamily="34" charset="-122"/>
                <a:cs typeface="Calibri" pitchFamily="34" charset="-120"/>
              </a:rPr>
              <a:t>Ceck — min_samples / eps</a:t>
            </a:r>
            <a:endParaRPr lang="en-US" sz="1200" dirty="0"/>
          </a:p>
        </p:txBody>
      </p:sp>
      <p:sp>
        <p:nvSpPr>
          <p:cNvPr id="125" name="Shape 123"/>
          <p:cNvSpPr/>
          <p:nvPr/>
        </p:nvSpPr>
        <p:spPr>
          <a:xfrm>
            <a:off x="10058400" y="4818888"/>
            <a:ext cx="713232" cy="713232"/>
          </a:xfrm>
          <a:prstGeom prst="ellipse">
            <a:avLst/>
          </a:prstGeom>
          <a:solidFill>
            <a:srgbClr val="E6402A"/>
          </a:solidFill>
          <a:ln/>
        </p:spPr>
      </p:sp>
      <p:sp>
        <p:nvSpPr>
          <p:cNvPr id="126" name="Shape 124"/>
          <p:cNvSpPr/>
          <p:nvPr/>
        </p:nvSpPr>
        <p:spPr>
          <a:xfrm>
            <a:off x="10172517" y="5047122"/>
            <a:ext cx="484998" cy="256764"/>
          </a:xfrm>
          <a:prstGeom prst="ellipse">
            <a:avLst/>
          </a:prstGeom>
          <a:solidFill>
            <a:srgbClr val="FFFFFF"/>
          </a:solidFill>
          <a:ln/>
        </p:spPr>
      </p:sp>
      <p:sp>
        <p:nvSpPr>
          <p:cNvPr id="127" name="Shape 125"/>
          <p:cNvSpPr/>
          <p:nvPr/>
        </p:nvSpPr>
        <p:spPr>
          <a:xfrm>
            <a:off x="10343693" y="5104181"/>
            <a:ext cx="142646" cy="142646"/>
          </a:xfrm>
          <a:prstGeom prst="ellipse">
            <a:avLst/>
          </a:prstGeom>
          <a:solidFill>
            <a:srgbClr val="1E2761"/>
          </a:solidFill>
          <a:ln/>
        </p:spPr>
      </p:sp>
      <p:sp>
        <p:nvSpPr>
          <p:cNvPr id="128" name="Text 126"/>
          <p:cNvSpPr/>
          <p:nvPr/>
        </p:nvSpPr>
        <p:spPr>
          <a:xfrm>
            <a:off x="10972800" y="4754880"/>
            <a:ext cx="16642080" cy="850392"/>
          </a:xfrm>
          <a:prstGeom prst="rect">
            <a:avLst/>
          </a:prstGeom>
          <a:noFill/>
          <a:ln/>
        </p:spPr>
        <p:txBody>
          <a:bodyPr wrap="square" lIns="0" tIns="0" rIns="0" bIns="0" rtlCol="0" anchor="ctr"/>
          <a:lstStyle/>
          <a:p>
            <a:pPr algn="l" indent="0" marL="0">
              <a:buNone/>
            </a:pPr>
            <a:r>
              <a:rPr lang="en-US" sz="3400" b="1" dirty="0">
                <a:solidFill>
                  <a:srgbClr val="1E2761"/>
                </a:solidFill>
                <a:latin typeface="Cambria" pitchFamily="34" charset="0"/>
                <a:ea typeface="Cambria" pitchFamily="34" charset="-122"/>
                <a:cs typeface="Cambria" pitchFamily="34" charset="-120"/>
              </a:rPr>
              <a:t>Results</a:t>
            </a:r>
            <a:endParaRPr lang="en-US" sz="3400" dirty="0"/>
          </a:p>
        </p:txBody>
      </p:sp>
      <p:sp>
        <p:nvSpPr>
          <p:cNvPr id="129" name="Text 127"/>
          <p:cNvSpPr/>
          <p:nvPr/>
        </p:nvSpPr>
        <p:spPr>
          <a:xfrm>
            <a:off x="10058400" y="5852160"/>
            <a:ext cx="17556480" cy="548640"/>
          </a:xfrm>
          <a:prstGeom prst="rect">
            <a:avLst/>
          </a:prstGeom>
          <a:noFill/>
          <a:ln/>
        </p:spPr>
        <p:txBody>
          <a:bodyPr wrap="square" lIns="0" tIns="0" rIns="0" bIns="0" rtlCol="0" anchor="ctr"/>
          <a:lstStyle/>
          <a:p>
            <a:pPr indent="0" marL="0">
              <a:buNone/>
            </a:pPr>
            <a:r>
              <a:rPr lang="en-US" sz="2100" b="1" dirty="0">
                <a:solidFill>
                  <a:srgbClr val="E6402A"/>
                </a:solidFill>
                <a:latin typeface="Cambria" pitchFamily="34" charset="0"/>
                <a:ea typeface="Cambria" pitchFamily="34" charset="-122"/>
                <a:cs typeface="Cambria" pitchFamily="34" charset="-120"/>
              </a:rPr>
              <a:t>Armin Hofmann, 1955 — 3 Data-Driven Regions</a:t>
            </a:r>
            <a:endParaRPr lang="en-US" sz="2100" dirty="0"/>
          </a:p>
        </p:txBody>
      </p:sp>
      <p:sp>
        <p:nvSpPr>
          <p:cNvPr id="130" name="Shape 128"/>
          <p:cNvSpPr/>
          <p:nvPr/>
        </p:nvSpPr>
        <p:spPr>
          <a:xfrm>
            <a:off x="10058400" y="6537960"/>
            <a:ext cx="4217670" cy="1600200"/>
          </a:xfrm>
          <a:prstGeom prst="roundRect">
            <a:avLst>
              <a:gd name="adj" fmla="val 4000"/>
            </a:avLst>
          </a:prstGeom>
          <a:solidFill>
            <a:srgbClr val="F4F5F8"/>
          </a:solidFill>
          <a:ln w="9525">
            <a:solidFill>
              <a:srgbClr val="D5D9E3"/>
            </a:solidFill>
            <a:prstDash val="solid"/>
          </a:ln>
        </p:spPr>
      </p:sp>
      <p:sp>
        <p:nvSpPr>
          <p:cNvPr id="131" name="Text 129"/>
          <p:cNvSpPr/>
          <p:nvPr/>
        </p:nvSpPr>
        <p:spPr>
          <a:xfrm>
            <a:off x="10149840" y="6647688"/>
            <a:ext cx="4034790" cy="864108"/>
          </a:xfrm>
          <a:prstGeom prst="rect">
            <a:avLst/>
          </a:prstGeom>
          <a:noFill/>
          <a:ln/>
        </p:spPr>
        <p:txBody>
          <a:bodyPr wrap="square" lIns="0" tIns="0" rIns="0" bIns="0" rtlCol="0" anchor="b"/>
          <a:lstStyle/>
          <a:p>
            <a:pPr algn="ctr" indent="0" marL="0">
              <a:buNone/>
            </a:pPr>
            <a:r>
              <a:rPr lang="en-US" sz="3400" b="1" dirty="0">
                <a:solidFill>
                  <a:srgbClr val="E6402A"/>
                </a:solidFill>
                <a:latin typeface="Cambria" pitchFamily="34" charset="0"/>
                <a:ea typeface="Cambria" pitchFamily="34" charset="-122"/>
                <a:cs typeface="Cambria" pitchFamily="34" charset="-120"/>
              </a:rPr>
              <a:t>64.6%</a:t>
            </a:r>
            <a:endParaRPr lang="en-US" sz="3400" dirty="0"/>
          </a:p>
        </p:txBody>
      </p:sp>
      <p:sp>
        <p:nvSpPr>
          <p:cNvPr id="132" name="Text 130"/>
          <p:cNvSpPr/>
          <p:nvPr/>
        </p:nvSpPr>
        <p:spPr>
          <a:xfrm>
            <a:off x="10186416" y="7466076"/>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first fixation on top headline</a:t>
            </a:r>
            <a:endParaRPr lang="en-US" sz="1450" dirty="0"/>
          </a:p>
        </p:txBody>
      </p:sp>
      <p:sp>
        <p:nvSpPr>
          <p:cNvPr id="133" name="Shape 131"/>
          <p:cNvSpPr/>
          <p:nvPr/>
        </p:nvSpPr>
        <p:spPr>
          <a:xfrm>
            <a:off x="14504670" y="6537960"/>
            <a:ext cx="4217670" cy="1600200"/>
          </a:xfrm>
          <a:prstGeom prst="roundRect">
            <a:avLst>
              <a:gd name="adj" fmla="val 4000"/>
            </a:avLst>
          </a:prstGeom>
          <a:solidFill>
            <a:srgbClr val="F4F5F8"/>
          </a:solidFill>
          <a:ln w="9525">
            <a:solidFill>
              <a:srgbClr val="D5D9E3"/>
            </a:solidFill>
            <a:prstDash val="solid"/>
          </a:ln>
        </p:spPr>
      </p:sp>
      <p:sp>
        <p:nvSpPr>
          <p:cNvPr id="134" name="Text 132"/>
          <p:cNvSpPr/>
          <p:nvPr/>
        </p:nvSpPr>
        <p:spPr>
          <a:xfrm>
            <a:off x="14596110" y="6647688"/>
            <a:ext cx="4034790" cy="864108"/>
          </a:xfrm>
          <a:prstGeom prst="rect">
            <a:avLst/>
          </a:prstGeom>
          <a:noFill/>
          <a:ln/>
        </p:spPr>
        <p:txBody>
          <a:bodyPr wrap="square" lIns="0" tIns="0" rIns="0" bIns="0" rtlCol="0" anchor="b"/>
          <a:lstStyle/>
          <a:p>
            <a:pPr algn="ctr" indent="0" marL="0">
              <a:buNone/>
            </a:pPr>
            <a:r>
              <a:rPr lang="en-US" sz="3400" b="1" dirty="0">
                <a:solidFill>
                  <a:srgbClr val="E6402A"/>
                </a:solidFill>
                <a:latin typeface="Cambria" pitchFamily="34" charset="0"/>
                <a:ea typeface="Cambria" pitchFamily="34" charset="-122"/>
                <a:cs typeface="Cambria" pitchFamily="34" charset="-120"/>
              </a:rPr>
              <a:t>48.4%</a:t>
            </a:r>
            <a:endParaRPr lang="en-US" sz="3400" dirty="0"/>
          </a:p>
        </p:txBody>
      </p:sp>
      <p:sp>
        <p:nvSpPr>
          <p:cNvPr id="135" name="Text 133"/>
          <p:cNvSpPr/>
          <p:nvPr/>
        </p:nvSpPr>
        <p:spPr>
          <a:xfrm>
            <a:off x="14632686" y="7466076"/>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of viewing time on middle text block</a:t>
            </a:r>
            <a:endParaRPr lang="en-US" sz="1450" dirty="0"/>
          </a:p>
        </p:txBody>
      </p:sp>
      <p:sp>
        <p:nvSpPr>
          <p:cNvPr id="136" name="Shape 134"/>
          <p:cNvSpPr/>
          <p:nvPr/>
        </p:nvSpPr>
        <p:spPr>
          <a:xfrm>
            <a:off x="18950940" y="6537960"/>
            <a:ext cx="4217670" cy="1600200"/>
          </a:xfrm>
          <a:prstGeom prst="roundRect">
            <a:avLst>
              <a:gd name="adj" fmla="val 4000"/>
            </a:avLst>
          </a:prstGeom>
          <a:solidFill>
            <a:srgbClr val="F4F5F8"/>
          </a:solidFill>
          <a:ln w="9525">
            <a:solidFill>
              <a:srgbClr val="D5D9E3"/>
            </a:solidFill>
            <a:prstDash val="solid"/>
          </a:ln>
        </p:spPr>
      </p:sp>
      <p:sp>
        <p:nvSpPr>
          <p:cNvPr id="137" name="Text 135"/>
          <p:cNvSpPr/>
          <p:nvPr/>
        </p:nvSpPr>
        <p:spPr>
          <a:xfrm>
            <a:off x="19042380" y="6647688"/>
            <a:ext cx="4034790" cy="864108"/>
          </a:xfrm>
          <a:prstGeom prst="rect">
            <a:avLst/>
          </a:prstGeom>
          <a:noFill/>
          <a:ln/>
        </p:spPr>
        <p:txBody>
          <a:bodyPr wrap="square" lIns="0" tIns="0" rIns="0" bIns="0" rtlCol="0" anchor="b"/>
          <a:lstStyle/>
          <a:p>
            <a:pPr algn="ctr" indent="0" marL="0">
              <a:buNone/>
            </a:pPr>
            <a:r>
              <a:rPr lang="en-US" sz="3400" b="1" dirty="0">
                <a:solidFill>
                  <a:srgbClr val="E6402A"/>
                </a:solidFill>
                <a:latin typeface="Cambria" pitchFamily="34" charset="0"/>
                <a:ea typeface="Cambria" pitchFamily="34" charset="-122"/>
                <a:cs typeface="Cambria" pitchFamily="34" charset="-120"/>
              </a:rPr>
              <a:t>235 ms</a:t>
            </a:r>
            <a:endParaRPr lang="en-US" sz="3400" dirty="0"/>
          </a:p>
        </p:txBody>
      </p:sp>
      <p:sp>
        <p:nvSpPr>
          <p:cNvPr id="138" name="Text 136"/>
          <p:cNvSpPr/>
          <p:nvPr/>
        </p:nvSpPr>
        <p:spPr>
          <a:xfrm>
            <a:off x="19078956" y="7466076"/>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longest average fixation</a:t>
            </a:r>
            <a:endParaRPr lang="en-US" sz="1450" dirty="0"/>
          </a:p>
        </p:txBody>
      </p:sp>
      <p:sp>
        <p:nvSpPr>
          <p:cNvPr id="139" name="Shape 137"/>
          <p:cNvSpPr/>
          <p:nvPr/>
        </p:nvSpPr>
        <p:spPr>
          <a:xfrm>
            <a:off x="23397210" y="6537960"/>
            <a:ext cx="4217670" cy="1600200"/>
          </a:xfrm>
          <a:prstGeom prst="roundRect">
            <a:avLst>
              <a:gd name="adj" fmla="val 4000"/>
            </a:avLst>
          </a:prstGeom>
          <a:solidFill>
            <a:srgbClr val="F4F5F8"/>
          </a:solidFill>
          <a:ln w="9525">
            <a:solidFill>
              <a:srgbClr val="D5D9E3"/>
            </a:solidFill>
            <a:prstDash val="solid"/>
          </a:ln>
        </p:spPr>
      </p:sp>
      <p:sp>
        <p:nvSpPr>
          <p:cNvPr id="140" name="Text 138"/>
          <p:cNvSpPr/>
          <p:nvPr/>
        </p:nvSpPr>
        <p:spPr>
          <a:xfrm>
            <a:off x="23488650" y="6647688"/>
            <a:ext cx="4034790" cy="864108"/>
          </a:xfrm>
          <a:prstGeom prst="rect">
            <a:avLst/>
          </a:prstGeom>
          <a:noFill/>
          <a:ln/>
        </p:spPr>
        <p:txBody>
          <a:bodyPr wrap="square" lIns="0" tIns="0" rIns="0" bIns="0" rtlCol="0" anchor="b"/>
          <a:lstStyle/>
          <a:p>
            <a:pPr algn="ctr" indent="0" marL="0">
              <a:buNone/>
            </a:pPr>
            <a:r>
              <a:rPr lang="en-US" sz="3400" b="1" dirty="0">
                <a:solidFill>
                  <a:srgbClr val="E6402A"/>
                </a:solidFill>
                <a:latin typeface="Cambria" pitchFamily="34" charset="0"/>
                <a:ea typeface="Cambria" pitchFamily="34" charset="-122"/>
                <a:cs typeface="Cambria" pitchFamily="34" charset="-120"/>
              </a:rPr>
              <a:t>0.75</a:t>
            </a:r>
            <a:endParaRPr lang="en-US" sz="3400" dirty="0"/>
          </a:p>
        </p:txBody>
      </p:sp>
      <p:sp>
        <p:nvSpPr>
          <p:cNvPr id="141" name="Text 139"/>
          <p:cNvSpPr/>
          <p:nvPr/>
        </p:nvSpPr>
        <p:spPr>
          <a:xfrm>
            <a:off x="23525226" y="7466076"/>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silhouette score (region separation)</a:t>
            </a:r>
            <a:endParaRPr lang="en-US" sz="1450" dirty="0"/>
          </a:p>
        </p:txBody>
      </p:sp>
      <p:sp>
        <p:nvSpPr>
          <p:cNvPr id="142" name="Shape 140"/>
          <p:cNvSpPr/>
          <p:nvPr/>
        </p:nvSpPr>
        <p:spPr>
          <a:xfrm>
            <a:off x="10058400" y="8458200"/>
            <a:ext cx="9509760" cy="6120324"/>
          </a:xfrm>
          <a:prstGeom prst="rect">
            <a:avLst/>
          </a:prstGeom>
          <a:solidFill>
            <a:srgbClr val="FFFFFF"/>
          </a:solidFill>
          <a:ln w="31750">
            <a:solidFill>
              <a:srgbClr val="E6402A"/>
            </a:solidFill>
            <a:prstDash val="solid"/>
          </a:ln>
        </p:spPr>
      </p:sp>
      <p:pic>
        <p:nvPicPr>
          <p:cNvPr id="143" name="Image 0" descr="/sessions/optimistic-pensive-lamport/mnt/outputs/poster_assets/gazepath_poster_ArminHofman-1955.png">    </p:cNvPr>
          <p:cNvPicPr>
            <a:picLocks noChangeAspect="1"/>
          </p:cNvPicPr>
          <p:nvPr/>
        </p:nvPicPr>
        <p:blipFill>
          <a:blip r:embed="rId1"/>
          <a:stretch>
            <a:fillRect/>
          </a:stretch>
        </p:blipFill>
        <p:spPr>
          <a:xfrm>
            <a:off x="10058400" y="8458200"/>
            <a:ext cx="9509760" cy="6120324"/>
          </a:xfrm>
          <a:prstGeom prst="rect">
            <a:avLst/>
          </a:prstGeom>
        </p:spPr>
      </p:pic>
      <p:sp>
        <p:nvSpPr>
          <p:cNvPr id="144" name="Text 141"/>
          <p:cNvSpPr/>
          <p:nvPr/>
        </p:nvSpPr>
        <p:spPr>
          <a:xfrm>
            <a:off x="19933920" y="8458200"/>
            <a:ext cx="7680960" cy="6120324"/>
          </a:xfrm>
          <a:prstGeom prst="rect">
            <a:avLst/>
          </a:prstGeom>
          <a:noFill/>
          <a:ln/>
        </p:spPr>
        <p:txBody>
          <a:bodyPr wrap="square" lIns="0" tIns="0" rIns="0" bIns="0" rtlCol="0" anchor="t"/>
          <a:lstStyle/>
          <a:p>
            <a:pPr algn="l" indent="0" marL="0">
              <a:lnSpc>
                <a:spcPct val="118000"/>
              </a:lnSpc>
              <a:buNone/>
            </a:pPr>
            <a:r>
              <a:rPr lang="en-US" sz="1550" dirty="0">
                <a:solidFill>
                  <a:srgbClr val="333333"/>
                </a:solidFill>
                <a:latin typeface="Calibri" pitchFamily="34" charset="0"/>
                <a:ea typeface="Calibri" pitchFamily="34" charset="-122"/>
                <a:cs typeface="Calibri" pitchFamily="34" charset="-120"/>
              </a:rPr>
              <a:t>DBSCAN found the poster's 3 visible text blocks — headline, exhibition details, footer — matching K-means almost exactly. 64.6% of viewers' first fixation landed on the bold headline within 0.4s. Attention then shifted to the middle text block, which wasn't looked at first but captured the most total viewing time and the longest individual looks of any region. The footer was reached last, ~5.3s in, and held the least attention.</a:t>
            </a:r>
            <a:endParaRPr lang="en-US" sz="1550" dirty="0"/>
          </a:p>
        </p:txBody>
      </p:sp>
      <p:sp>
        <p:nvSpPr>
          <p:cNvPr id="145" name="Text 142"/>
          <p:cNvSpPr/>
          <p:nvPr/>
        </p:nvSpPr>
        <p:spPr>
          <a:xfrm>
            <a:off x="10058400" y="15127164"/>
            <a:ext cx="17556480" cy="548640"/>
          </a:xfrm>
          <a:prstGeom prst="rect">
            <a:avLst/>
          </a:prstGeom>
          <a:noFill/>
          <a:ln/>
        </p:spPr>
        <p:txBody>
          <a:bodyPr wrap="square" lIns="0" tIns="0" rIns="0" bIns="0" rtlCol="0" anchor="ctr"/>
          <a:lstStyle/>
          <a:p>
            <a:pPr indent="0" marL="0">
              <a:buNone/>
            </a:pPr>
            <a:r>
              <a:rPr lang="en-US" sz="2100" b="1" dirty="0">
                <a:solidFill>
                  <a:srgbClr val="0E7C86"/>
                </a:solidFill>
                <a:latin typeface="Cambria" pitchFamily="34" charset="0"/>
                <a:ea typeface="Cambria" pitchFamily="34" charset="-122"/>
                <a:cs typeface="Cambria" pitchFamily="34" charset="-120"/>
              </a:rPr>
              <a:t>Barry Ceck, 1988 — 7 Data-Driven Regions</a:t>
            </a:r>
            <a:endParaRPr lang="en-US" sz="2100" dirty="0"/>
          </a:p>
        </p:txBody>
      </p:sp>
      <p:sp>
        <p:nvSpPr>
          <p:cNvPr id="146" name="Shape 143"/>
          <p:cNvSpPr/>
          <p:nvPr/>
        </p:nvSpPr>
        <p:spPr>
          <a:xfrm>
            <a:off x="10058400" y="15812964"/>
            <a:ext cx="4217670" cy="1600200"/>
          </a:xfrm>
          <a:prstGeom prst="roundRect">
            <a:avLst>
              <a:gd name="adj" fmla="val 4000"/>
            </a:avLst>
          </a:prstGeom>
          <a:solidFill>
            <a:srgbClr val="F4F5F8"/>
          </a:solidFill>
          <a:ln w="9525">
            <a:solidFill>
              <a:srgbClr val="D5D9E3"/>
            </a:solidFill>
            <a:prstDash val="solid"/>
          </a:ln>
        </p:spPr>
      </p:sp>
      <p:sp>
        <p:nvSpPr>
          <p:cNvPr id="147" name="Text 144"/>
          <p:cNvSpPr/>
          <p:nvPr/>
        </p:nvSpPr>
        <p:spPr>
          <a:xfrm>
            <a:off x="10149840" y="15922692"/>
            <a:ext cx="4034790" cy="864108"/>
          </a:xfrm>
          <a:prstGeom prst="rect">
            <a:avLst/>
          </a:prstGeom>
          <a:noFill/>
          <a:ln/>
        </p:spPr>
        <p:txBody>
          <a:bodyPr wrap="square" lIns="0" tIns="0" rIns="0" bIns="0" rtlCol="0" anchor="b"/>
          <a:lstStyle/>
          <a:p>
            <a:pPr algn="ctr" indent="0" marL="0">
              <a:buNone/>
            </a:pPr>
            <a:r>
              <a:rPr lang="en-US" sz="3400" b="1" dirty="0">
                <a:solidFill>
                  <a:srgbClr val="0E7C86"/>
                </a:solidFill>
                <a:latin typeface="Cambria" pitchFamily="34" charset="0"/>
                <a:ea typeface="Cambria" pitchFamily="34" charset="-122"/>
                <a:cs typeface="Cambria" pitchFamily="34" charset="-120"/>
              </a:rPr>
              <a:t>45.8%</a:t>
            </a:r>
            <a:endParaRPr lang="en-US" sz="3400" dirty="0"/>
          </a:p>
        </p:txBody>
      </p:sp>
      <p:sp>
        <p:nvSpPr>
          <p:cNvPr id="148" name="Text 145"/>
          <p:cNvSpPr/>
          <p:nvPr/>
        </p:nvSpPr>
        <p:spPr>
          <a:xfrm>
            <a:off x="10186416" y="16741080"/>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first fixation split: “BARTOK” title</a:t>
            </a:r>
            <a:endParaRPr lang="en-US" sz="1450" dirty="0"/>
          </a:p>
        </p:txBody>
      </p:sp>
      <p:sp>
        <p:nvSpPr>
          <p:cNvPr id="149" name="Shape 146"/>
          <p:cNvSpPr/>
          <p:nvPr/>
        </p:nvSpPr>
        <p:spPr>
          <a:xfrm>
            <a:off x="14504670" y="15812964"/>
            <a:ext cx="4217670" cy="1600200"/>
          </a:xfrm>
          <a:prstGeom prst="roundRect">
            <a:avLst>
              <a:gd name="adj" fmla="val 4000"/>
            </a:avLst>
          </a:prstGeom>
          <a:solidFill>
            <a:srgbClr val="F4F5F8"/>
          </a:solidFill>
          <a:ln w="9525">
            <a:solidFill>
              <a:srgbClr val="D5D9E3"/>
            </a:solidFill>
            <a:prstDash val="solid"/>
          </a:ln>
        </p:spPr>
      </p:sp>
      <p:sp>
        <p:nvSpPr>
          <p:cNvPr id="150" name="Text 147"/>
          <p:cNvSpPr/>
          <p:nvPr/>
        </p:nvSpPr>
        <p:spPr>
          <a:xfrm>
            <a:off x="14596110" y="15922692"/>
            <a:ext cx="4034790" cy="864108"/>
          </a:xfrm>
          <a:prstGeom prst="rect">
            <a:avLst/>
          </a:prstGeom>
          <a:noFill/>
          <a:ln/>
        </p:spPr>
        <p:txBody>
          <a:bodyPr wrap="square" lIns="0" tIns="0" rIns="0" bIns="0" rtlCol="0" anchor="b"/>
          <a:lstStyle/>
          <a:p>
            <a:pPr algn="ctr" indent="0" marL="0">
              <a:buNone/>
            </a:pPr>
            <a:r>
              <a:rPr lang="en-US" sz="3400" b="1" dirty="0">
                <a:solidFill>
                  <a:srgbClr val="0E7C86"/>
                </a:solidFill>
                <a:latin typeface="Cambria" pitchFamily="34" charset="0"/>
                <a:ea typeface="Cambria" pitchFamily="34" charset="-122"/>
                <a:cs typeface="Cambria" pitchFamily="34" charset="-120"/>
              </a:rPr>
              <a:t>35.7%</a:t>
            </a:r>
            <a:endParaRPr lang="en-US" sz="3400" dirty="0"/>
          </a:p>
        </p:txBody>
      </p:sp>
      <p:sp>
        <p:nvSpPr>
          <p:cNvPr id="151" name="Text 148"/>
          <p:cNvSpPr/>
          <p:nvPr/>
        </p:nvSpPr>
        <p:spPr>
          <a:xfrm>
            <a:off x="14632686" y="16741080"/>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of viewing time on “CRUMB” / date block</a:t>
            </a:r>
            <a:endParaRPr lang="en-US" sz="1450" dirty="0"/>
          </a:p>
        </p:txBody>
      </p:sp>
      <p:sp>
        <p:nvSpPr>
          <p:cNvPr id="152" name="Shape 149"/>
          <p:cNvSpPr/>
          <p:nvPr/>
        </p:nvSpPr>
        <p:spPr>
          <a:xfrm>
            <a:off x="18950940" y="15812964"/>
            <a:ext cx="4217670" cy="1600200"/>
          </a:xfrm>
          <a:prstGeom prst="roundRect">
            <a:avLst>
              <a:gd name="adj" fmla="val 4000"/>
            </a:avLst>
          </a:prstGeom>
          <a:solidFill>
            <a:srgbClr val="F4F5F8"/>
          </a:solidFill>
          <a:ln w="9525">
            <a:solidFill>
              <a:srgbClr val="D5D9E3"/>
            </a:solidFill>
            <a:prstDash val="solid"/>
          </a:ln>
        </p:spPr>
      </p:sp>
      <p:sp>
        <p:nvSpPr>
          <p:cNvPr id="153" name="Text 150"/>
          <p:cNvSpPr/>
          <p:nvPr/>
        </p:nvSpPr>
        <p:spPr>
          <a:xfrm>
            <a:off x="19042380" y="15922692"/>
            <a:ext cx="4034790" cy="864108"/>
          </a:xfrm>
          <a:prstGeom prst="rect">
            <a:avLst/>
          </a:prstGeom>
          <a:noFill/>
          <a:ln/>
        </p:spPr>
        <p:txBody>
          <a:bodyPr wrap="square" lIns="0" tIns="0" rIns="0" bIns="0" rtlCol="0" anchor="b"/>
          <a:lstStyle/>
          <a:p>
            <a:pPr algn="ctr" indent="0" marL="0">
              <a:buNone/>
            </a:pPr>
            <a:r>
              <a:rPr lang="en-US" sz="3400" b="1" dirty="0">
                <a:solidFill>
                  <a:srgbClr val="0E7C86"/>
                </a:solidFill>
                <a:latin typeface="Cambria" pitchFamily="34" charset="0"/>
                <a:ea typeface="Cambria" pitchFamily="34" charset="-122"/>
                <a:cs typeface="Cambria" pitchFamily="34" charset="-120"/>
              </a:rPr>
              <a:t>197 ms</a:t>
            </a:r>
            <a:endParaRPr lang="en-US" sz="3400" dirty="0"/>
          </a:p>
        </p:txBody>
      </p:sp>
      <p:sp>
        <p:nvSpPr>
          <p:cNvPr id="154" name="Text 151"/>
          <p:cNvSpPr/>
          <p:nvPr/>
        </p:nvSpPr>
        <p:spPr>
          <a:xfrm>
            <a:off x="19078956" y="16741080"/>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longest avg. look (small illustration)</a:t>
            </a:r>
            <a:endParaRPr lang="en-US" sz="1450" dirty="0"/>
          </a:p>
        </p:txBody>
      </p:sp>
      <p:sp>
        <p:nvSpPr>
          <p:cNvPr id="155" name="Shape 152"/>
          <p:cNvSpPr/>
          <p:nvPr/>
        </p:nvSpPr>
        <p:spPr>
          <a:xfrm>
            <a:off x="23397210" y="15812964"/>
            <a:ext cx="4217670" cy="1600200"/>
          </a:xfrm>
          <a:prstGeom prst="roundRect">
            <a:avLst>
              <a:gd name="adj" fmla="val 4000"/>
            </a:avLst>
          </a:prstGeom>
          <a:solidFill>
            <a:srgbClr val="F4F5F8"/>
          </a:solidFill>
          <a:ln w="9525">
            <a:solidFill>
              <a:srgbClr val="D5D9E3"/>
            </a:solidFill>
            <a:prstDash val="solid"/>
          </a:ln>
        </p:spPr>
      </p:sp>
      <p:sp>
        <p:nvSpPr>
          <p:cNvPr id="156" name="Text 153"/>
          <p:cNvSpPr/>
          <p:nvPr/>
        </p:nvSpPr>
        <p:spPr>
          <a:xfrm>
            <a:off x="23488650" y="15922692"/>
            <a:ext cx="4034790" cy="864108"/>
          </a:xfrm>
          <a:prstGeom prst="rect">
            <a:avLst/>
          </a:prstGeom>
          <a:noFill/>
          <a:ln/>
        </p:spPr>
        <p:txBody>
          <a:bodyPr wrap="square" lIns="0" tIns="0" rIns="0" bIns="0" rtlCol="0" anchor="b"/>
          <a:lstStyle/>
          <a:p>
            <a:pPr algn="ctr" indent="0" marL="0">
              <a:buNone/>
            </a:pPr>
            <a:r>
              <a:rPr lang="en-US" sz="3400" b="1" dirty="0">
                <a:solidFill>
                  <a:srgbClr val="0E7C86"/>
                </a:solidFill>
                <a:latin typeface="Cambria" pitchFamily="34" charset="0"/>
                <a:ea typeface="Cambria" pitchFamily="34" charset="-122"/>
                <a:cs typeface="Cambria" pitchFamily="34" charset="-120"/>
              </a:rPr>
              <a:t>7 vs 4</a:t>
            </a:r>
            <a:endParaRPr lang="en-US" sz="3400" dirty="0"/>
          </a:p>
        </p:txBody>
      </p:sp>
      <p:sp>
        <p:nvSpPr>
          <p:cNvPr id="157" name="Text 154"/>
          <p:cNvSpPr/>
          <p:nvPr/>
        </p:nvSpPr>
        <p:spPr>
          <a:xfrm>
            <a:off x="23525226" y="16741080"/>
            <a:ext cx="3961638" cy="640080"/>
          </a:xfrm>
          <a:prstGeom prst="rect">
            <a:avLst/>
          </a:prstGeom>
          <a:noFill/>
          <a:ln/>
        </p:spPr>
        <p:txBody>
          <a:bodyPr wrap="square" lIns="0" tIns="0" rIns="0" bIns="0" rtlCol="0" anchor="t"/>
          <a:lstStyle/>
          <a:p>
            <a:pPr algn="ctr" indent="0" marL="0">
              <a:lnSpc>
                <a:spcPct val="100000"/>
              </a:lnSpc>
              <a:buNone/>
            </a:pPr>
            <a:r>
              <a:rPr lang="en-US" sz="1450" dirty="0">
                <a:solidFill>
                  <a:srgbClr val="5A5A5A"/>
                </a:solidFill>
                <a:latin typeface="Calibri" pitchFamily="34" charset="0"/>
                <a:ea typeface="Calibri" pitchFamily="34" charset="-122"/>
                <a:cs typeface="Calibri" pitchFamily="34" charset="-120"/>
              </a:rPr>
              <a:t>regions found (DBSCAN vs. K-means)</a:t>
            </a:r>
            <a:endParaRPr lang="en-US" sz="1450" dirty="0"/>
          </a:p>
        </p:txBody>
      </p:sp>
      <p:sp>
        <p:nvSpPr>
          <p:cNvPr id="158" name="Shape 155"/>
          <p:cNvSpPr/>
          <p:nvPr/>
        </p:nvSpPr>
        <p:spPr>
          <a:xfrm>
            <a:off x="10058400" y="17733204"/>
            <a:ext cx="9509760" cy="6120324"/>
          </a:xfrm>
          <a:prstGeom prst="rect">
            <a:avLst/>
          </a:prstGeom>
          <a:solidFill>
            <a:srgbClr val="FFFFFF"/>
          </a:solidFill>
          <a:ln w="31750">
            <a:solidFill>
              <a:srgbClr val="0E7C86"/>
            </a:solidFill>
            <a:prstDash val="solid"/>
          </a:ln>
        </p:spPr>
      </p:sp>
      <p:pic>
        <p:nvPicPr>
          <p:cNvPr id="159" name="Image 1" descr="/sessions/optimistic-pensive-lamport/mnt/outputs/poster_assets/gazepath_poster_BarryCeck-1988.png">    </p:cNvPr>
          <p:cNvPicPr>
            <a:picLocks noChangeAspect="1"/>
          </p:cNvPicPr>
          <p:nvPr/>
        </p:nvPicPr>
        <p:blipFill>
          <a:blip r:embed="rId2"/>
          <a:stretch>
            <a:fillRect/>
          </a:stretch>
        </p:blipFill>
        <p:spPr>
          <a:xfrm>
            <a:off x="10058400" y="17733204"/>
            <a:ext cx="9509760" cy="6120324"/>
          </a:xfrm>
          <a:prstGeom prst="rect">
            <a:avLst/>
          </a:prstGeom>
        </p:spPr>
      </p:pic>
      <p:sp>
        <p:nvSpPr>
          <p:cNvPr id="160" name="Text 156"/>
          <p:cNvSpPr/>
          <p:nvPr/>
        </p:nvSpPr>
        <p:spPr>
          <a:xfrm>
            <a:off x="19933920" y="17733204"/>
            <a:ext cx="7680960" cy="6120324"/>
          </a:xfrm>
          <a:prstGeom prst="rect">
            <a:avLst/>
          </a:prstGeom>
          <a:noFill/>
          <a:ln/>
        </p:spPr>
        <p:txBody>
          <a:bodyPr wrap="square" lIns="0" tIns="0" rIns="0" bIns="0" rtlCol="0" anchor="t"/>
          <a:lstStyle/>
          <a:p>
            <a:pPr algn="l" indent="0" marL="0">
              <a:lnSpc>
                <a:spcPct val="118000"/>
              </a:lnSpc>
              <a:buNone/>
            </a:pPr>
            <a:r>
              <a:rPr lang="en-US" sz="1550" dirty="0">
                <a:solidFill>
                  <a:srgbClr val="333333"/>
                </a:solidFill>
                <a:latin typeface="Calibri" pitchFamily="34" charset="0"/>
                <a:ea typeface="Calibri" pitchFamily="34" charset="-122"/>
                <a:cs typeface="Calibri" pitchFamily="34" charset="-120"/>
              </a:rPr>
              <a:t>On this busier design, DBSCAN split attention into 7 regions instead of K-means' fixed 4 — separating a technical illustration and a hand-drawn creature graphic into their own hotspots. First attention split between the “BARTOK” title and the “CRUMB”/date block, which also drew the most total viewing time. The single longest average fixation occurred in the smallest region of all — the hand-drawn creature — suggesting few viewers notice it, but those who do pause unusually long.</a:t>
            </a:r>
            <a:endParaRPr lang="en-US" sz="1550" dirty="0"/>
          </a:p>
        </p:txBody>
      </p:sp>
      <p:sp>
        <p:nvSpPr>
          <p:cNvPr id="161" name="Shape 157"/>
          <p:cNvSpPr/>
          <p:nvPr/>
        </p:nvSpPr>
        <p:spPr>
          <a:xfrm>
            <a:off x="10058400" y="24356449"/>
            <a:ext cx="17556480" cy="3063240"/>
          </a:xfrm>
          <a:prstGeom prst="roundRect">
            <a:avLst>
              <a:gd name="adj" fmla="val 1791"/>
            </a:avLst>
          </a:prstGeom>
          <a:solidFill>
            <a:srgbClr val="F4F5F8"/>
          </a:solidFill>
          <a:ln w="9525">
            <a:solidFill>
              <a:srgbClr val="D5D9E3"/>
            </a:solidFill>
            <a:prstDash val="solid"/>
          </a:ln>
        </p:spPr>
      </p:sp>
      <p:sp>
        <p:nvSpPr>
          <p:cNvPr id="162" name="Text 158"/>
          <p:cNvSpPr/>
          <p:nvPr/>
        </p:nvSpPr>
        <p:spPr>
          <a:xfrm>
            <a:off x="10287000" y="24521041"/>
            <a:ext cx="17099280" cy="50292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Pattern across both posters</a:t>
            </a:r>
            <a:endParaRPr lang="en-US" sz="1900" dirty="0"/>
          </a:p>
        </p:txBody>
      </p:sp>
      <p:sp>
        <p:nvSpPr>
          <p:cNvPr id="163" name="Text 159"/>
          <p:cNvSpPr/>
          <p:nvPr/>
        </p:nvSpPr>
        <p:spPr>
          <a:xfrm>
            <a:off x="10287000" y="25133689"/>
            <a:ext cx="17099280" cy="2194560"/>
          </a:xfrm>
          <a:prstGeom prst="rect">
            <a:avLst/>
          </a:prstGeom>
          <a:noFill/>
          <a:ln/>
        </p:spPr>
        <p:txBody>
          <a:bodyPr wrap="square" lIns="0" tIns="0" rIns="0" bIns="0" rtlCol="0" anchor="t"/>
          <a:lstStyle/>
          <a:p>
            <a:pPr algn="l" marL="254000" indent="-254000">
              <a:lnSpc>
                <a:spcPct val="112000"/>
              </a:lnSpc>
              <a:spcAft>
                <a:spcPts val="1200"/>
              </a:spcAft>
              <a:buSzPct val="100000"/>
              <a:buChar char="●"/>
            </a:pPr>
            <a:r>
              <a:rPr lang="en-US" sz="1500" dirty="0">
                <a:solidFill>
                  <a:srgbClr val="333333"/>
                </a:solidFill>
                <a:latin typeface="Calibri" pitchFamily="34" charset="0"/>
                <a:ea typeface="Calibri" pitchFamily="34" charset="-122"/>
                <a:cs typeface="Calibri" pitchFamily="34" charset="-120"/>
              </a:rPr>
              <a:t>Same two-stage sequence on both posters: first glance to the boldest title text, then longest dwell on a denser block of nearby text.</a:t>
            </a:r>
            <a:endParaRPr lang="en-US" sz="1500" dirty="0"/>
          </a:p>
          <a:p>
            <a:pPr algn="l" marL="254000" indent="-254000">
              <a:lnSpc>
                <a:spcPct val="112000"/>
              </a:lnSpc>
              <a:spcAft>
                <a:spcPts val="1200"/>
              </a:spcAft>
              <a:buSzPct val="100000"/>
              <a:buChar char="●"/>
            </a:pPr>
            <a:r>
              <a:rPr lang="en-US" sz="1500" dirty="0">
                <a:solidFill>
                  <a:srgbClr val="333333"/>
                </a:solidFill>
                <a:latin typeface="Calibri" pitchFamily="34" charset="0"/>
                <a:ea typeface="Calibri" pitchFamily="34" charset="-122"/>
                <a:cs typeface="Calibri" pitchFamily="34" charset="-120"/>
              </a:rPr>
              <a:t>Text dominates every high-attention region in both posters; abstract shapes and color fields are mostly skipped over.</a:t>
            </a:r>
            <a:endParaRPr lang="en-US" sz="1500" dirty="0"/>
          </a:p>
          <a:p>
            <a:pPr algn="l" marL="254000" indent="-254000">
              <a:lnSpc>
                <a:spcPct val="112000"/>
              </a:lnSpc>
              <a:spcAft>
                <a:spcPts val="1200"/>
              </a:spcAft>
              <a:buSzPct val="100000"/>
              <a:buChar char="●"/>
            </a:pPr>
            <a:r>
              <a:rPr lang="en-US" sz="1500" dirty="0">
                <a:solidFill>
                  <a:srgbClr val="333333"/>
                </a:solidFill>
                <a:latin typeface="Calibri" pitchFamily="34" charset="0"/>
                <a:ea typeface="Calibri" pitchFamily="34" charset="-122"/>
                <a:cs typeface="Calibri" pitchFamily="34" charset="-120"/>
              </a:rPr>
              <a:t>Clustering method matters on complex layouts: DBSCAN matched K-means on the simple poster but found nearly double the regions on the busy one.</a:t>
            </a:r>
            <a:endParaRPr lang="en-US" sz="1500" dirty="0"/>
          </a:p>
        </p:txBody>
      </p:sp>
      <p:sp>
        <p:nvSpPr>
          <p:cNvPr id="164" name="Shape 160"/>
          <p:cNvSpPr/>
          <p:nvPr/>
        </p:nvSpPr>
        <p:spPr>
          <a:xfrm>
            <a:off x="28712160" y="4818888"/>
            <a:ext cx="713232" cy="713232"/>
          </a:xfrm>
          <a:prstGeom prst="ellipse">
            <a:avLst/>
          </a:prstGeom>
          <a:solidFill>
            <a:srgbClr val="E6402A"/>
          </a:solidFill>
          <a:ln/>
        </p:spPr>
      </p:sp>
      <p:sp>
        <p:nvSpPr>
          <p:cNvPr id="165" name="Shape 161"/>
          <p:cNvSpPr/>
          <p:nvPr/>
        </p:nvSpPr>
        <p:spPr>
          <a:xfrm>
            <a:off x="28826277" y="5047122"/>
            <a:ext cx="484998" cy="256764"/>
          </a:xfrm>
          <a:prstGeom prst="ellipse">
            <a:avLst/>
          </a:prstGeom>
          <a:solidFill>
            <a:srgbClr val="FFFFFF"/>
          </a:solidFill>
          <a:ln/>
        </p:spPr>
      </p:sp>
      <p:sp>
        <p:nvSpPr>
          <p:cNvPr id="166" name="Shape 162"/>
          <p:cNvSpPr/>
          <p:nvPr/>
        </p:nvSpPr>
        <p:spPr>
          <a:xfrm>
            <a:off x="28997453" y="5104181"/>
            <a:ext cx="142646" cy="142646"/>
          </a:xfrm>
          <a:prstGeom prst="ellipse">
            <a:avLst/>
          </a:prstGeom>
          <a:solidFill>
            <a:srgbClr val="1E2761"/>
          </a:solidFill>
          <a:ln/>
        </p:spPr>
      </p:sp>
      <p:sp>
        <p:nvSpPr>
          <p:cNvPr id="167" name="Text 163"/>
          <p:cNvSpPr/>
          <p:nvPr/>
        </p:nvSpPr>
        <p:spPr>
          <a:xfrm>
            <a:off x="29626560" y="4754880"/>
            <a:ext cx="7863840" cy="8503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Conclusion</a:t>
            </a:r>
            <a:endParaRPr lang="en-US" sz="2800" dirty="0"/>
          </a:p>
        </p:txBody>
      </p:sp>
      <p:sp>
        <p:nvSpPr>
          <p:cNvPr id="168" name="Text 164"/>
          <p:cNvSpPr/>
          <p:nvPr/>
        </p:nvSpPr>
        <p:spPr>
          <a:xfrm>
            <a:off x="28712160" y="5760720"/>
            <a:ext cx="8778240" cy="3200400"/>
          </a:xfrm>
          <a:prstGeom prst="rect">
            <a:avLst/>
          </a:prstGeom>
          <a:noFill/>
          <a:ln/>
        </p:spPr>
        <p:txBody>
          <a:bodyPr wrap="square" lIns="0" tIns="0" rIns="0" bIns="0" rtlCol="0" anchor="t"/>
          <a:lstStyle/>
          <a:p>
            <a:pPr algn="l" indent="0" marL="0">
              <a:lnSpc>
                <a:spcPct val="122000"/>
              </a:lnSpc>
              <a:buNone/>
            </a:pPr>
            <a:r>
              <a:rPr lang="en-US" sz="1900" dirty="0">
                <a:solidFill>
                  <a:srgbClr val="333333"/>
                </a:solidFill>
                <a:latin typeface="Calibri" pitchFamily="34" charset="0"/>
                <a:ea typeface="Calibri" pitchFamily="34" charset="-122"/>
                <a:cs typeface="Calibri" pitchFamily="34" charset="-120"/>
              </a:rPr>
              <a:t>Across two visually different posters, attention followed the same reliable pattern: the boldest title text wins the first glance almost immediately, and a nearby block of denser, informational text — not necessarily the visual centerpiece — earns the longest, most sustained looking. Density-based clustering (DBSCAN) recovered this structure directly from gaze data with no manually defined regions, adapting its region count to each poster's real complexity: 3 tidy regions for a restrained design, 7 finer ones for a busy, layered design.</a:t>
            </a:r>
            <a:endParaRPr lang="en-US" sz="1900" dirty="0"/>
          </a:p>
        </p:txBody>
      </p:sp>
      <p:sp>
        <p:nvSpPr>
          <p:cNvPr id="169" name="Text 165"/>
          <p:cNvSpPr/>
          <p:nvPr/>
        </p:nvSpPr>
        <p:spPr>
          <a:xfrm>
            <a:off x="28712160" y="9281160"/>
            <a:ext cx="877824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By the Numbers</a:t>
            </a:r>
            <a:endParaRPr lang="en-US" sz="1900" dirty="0"/>
          </a:p>
        </p:txBody>
      </p:sp>
      <p:sp>
        <p:nvSpPr>
          <p:cNvPr id="170" name="Shape 166"/>
          <p:cNvSpPr/>
          <p:nvPr/>
        </p:nvSpPr>
        <p:spPr>
          <a:xfrm>
            <a:off x="28712160" y="9902952"/>
            <a:ext cx="2791968" cy="1691640"/>
          </a:xfrm>
          <a:prstGeom prst="roundRect">
            <a:avLst>
              <a:gd name="adj" fmla="val 3784"/>
            </a:avLst>
          </a:prstGeom>
          <a:solidFill>
            <a:srgbClr val="F4F5F8"/>
          </a:solidFill>
          <a:ln w="9525">
            <a:solidFill>
              <a:srgbClr val="D5D9E3"/>
            </a:solidFill>
            <a:prstDash val="solid"/>
          </a:ln>
        </p:spPr>
      </p:sp>
      <p:sp>
        <p:nvSpPr>
          <p:cNvPr id="171" name="Text 167"/>
          <p:cNvSpPr/>
          <p:nvPr/>
        </p:nvSpPr>
        <p:spPr>
          <a:xfrm>
            <a:off x="28803600" y="10012680"/>
            <a:ext cx="2609088" cy="913486"/>
          </a:xfrm>
          <a:prstGeom prst="rect">
            <a:avLst/>
          </a:prstGeom>
          <a:noFill/>
          <a:ln/>
        </p:spPr>
        <p:txBody>
          <a:bodyPr wrap="square" lIns="0" tIns="0" rIns="0" bIns="0" rtlCol="0" anchor="b"/>
          <a:lstStyle/>
          <a:p>
            <a:pPr algn="ctr" indent="0" marL="0">
              <a:buNone/>
            </a:pPr>
            <a:r>
              <a:rPr lang="en-US" sz="3000" b="1" dirty="0">
                <a:solidFill>
                  <a:srgbClr val="1E2761"/>
                </a:solidFill>
                <a:latin typeface="Cambria" pitchFamily="34" charset="0"/>
                <a:ea typeface="Cambria" pitchFamily="34" charset="-122"/>
                <a:cs typeface="Cambria" pitchFamily="34" charset="-120"/>
              </a:rPr>
              <a:t>48</a:t>
            </a:r>
            <a:endParaRPr lang="en-US" sz="3000" dirty="0"/>
          </a:p>
        </p:txBody>
      </p:sp>
      <p:sp>
        <p:nvSpPr>
          <p:cNvPr id="172" name="Text 168"/>
          <p:cNvSpPr/>
          <p:nvPr/>
        </p:nvSpPr>
        <p:spPr>
          <a:xfrm>
            <a:off x="28840176" y="10884103"/>
            <a:ext cx="2535936" cy="676656"/>
          </a:xfrm>
          <a:prstGeom prst="rect">
            <a:avLst/>
          </a:prstGeom>
          <a:noFill/>
          <a:ln/>
        </p:spPr>
        <p:txBody>
          <a:bodyPr wrap="square" lIns="0" tIns="0" rIns="0" bIns="0" rtlCol="0" anchor="t"/>
          <a:lstStyle/>
          <a:p>
            <a:pPr algn="ctr" indent="0" marL="0">
              <a:lnSpc>
                <a:spcPct val="100000"/>
              </a:lnSpc>
              <a:buNone/>
            </a:pPr>
            <a:r>
              <a:rPr lang="en-US" sz="1400" dirty="0">
                <a:solidFill>
                  <a:srgbClr val="5A5A5A"/>
                </a:solidFill>
                <a:latin typeface="Calibri" pitchFamily="34" charset="0"/>
                <a:ea typeface="Calibri" pitchFamily="34" charset="-122"/>
                <a:cs typeface="Calibri" pitchFamily="34" charset="-120"/>
              </a:rPr>
              <a:t>participants, 16s exposure per poster</a:t>
            </a:r>
            <a:endParaRPr lang="en-US" sz="1400" dirty="0"/>
          </a:p>
        </p:txBody>
      </p:sp>
      <p:sp>
        <p:nvSpPr>
          <p:cNvPr id="173" name="Shape 169"/>
          <p:cNvSpPr/>
          <p:nvPr/>
        </p:nvSpPr>
        <p:spPr>
          <a:xfrm>
            <a:off x="31705296" y="9902952"/>
            <a:ext cx="2791968" cy="1691640"/>
          </a:xfrm>
          <a:prstGeom prst="roundRect">
            <a:avLst>
              <a:gd name="adj" fmla="val 3784"/>
            </a:avLst>
          </a:prstGeom>
          <a:solidFill>
            <a:srgbClr val="F4F5F8"/>
          </a:solidFill>
          <a:ln w="9525">
            <a:solidFill>
              <a:srgbClr val="D5D9E3"/>
            </a:solidFill>
            <a:prstDash val="solid"/>
          </a:ln>
        </p:spPr>
      </p:sp>
      <p:sp>
        <p:nvSpPr>
          <p:cNvPr id="174" name="Text 170"/>
          <p:cNvSpPr/>
          <p:nvPr/>
        </p:nvSpPr>
        <p:spPr>
          <a:xfrm>
            <a:off x="31796736" y="10012680"/>
            <a:ext cx="2609088" cy="913486"/>
          </a:xfrm>
          <a:prstGeom prst="rect">
            <a:avLst/>
          </a:prstGeom>
          <a:noFill/>
          <a:ln/>
        </p:spPr>
        <p:txBody>
          <a:bodyPr wrap="square" lIns="0" tIns="0" rIns="0" bIns="0" rtlCol="0" anchor="b"/>
          <a:lstStyle/>
          <a:p>
            <a:pPr algn="ctr" indent="0" marL="0">
              <a:buNone/>
            </a:pPr>
            <a:r>
              <a:rPr lang="en-US" sz="3000" b="1" dirty="0">
                <a:solidFill>
                  <a:srgbClr val="D9971E"/>
                </a:solidFill>
                <a:latin typeface="Cambria" pitchFamily="34" charset="0"/>
                <a:ea typeface="Cambria" pitchFamily="34" charset="-122"/>
                <a:cs typeface="Cambria" pitchFamily="34" charset="-120"/>
              </a:rPr>
              <a:t>3 → 7</a:t>
            </a:r>
            <a:endParaRPr lang="en-US" sz="3000" dirty="0"/>
          </a:p>
        </p:txBody>
      </p:sp>
      <p:sp>
        <p:nvSpPr>
          <p:cNvPr id="175" name="Text 171"/>
          <p:cNvSpPr/>
          <p:nvPr/>
        </p:nvSpPr>
        <p:spPr>
          <a:xfrm>
            <a:off x="31833312" y="10884103"/>
            <a:ext cx="2535936" cy="676656"/>
          </a:xfrm>
          <a:prstGeom prst="rect">
            <a:avLst/>
          </a:prstGeom>
          <a:noFill/>
          <a:ln/>
        </p:spPr>
        <p:txBody>
          <a:bodyPr wrap="square" lIns="0" tIns="0" rIns="0" bIns="0" rtlCol="0" anchor="t"/>
          <a:lstStyle/>
          <a:p>
            <a:pPr algn="ctr" indent="0" marL="0">
              <a:lnSpc>
                <a:spcPct val="100000"/>
              </a:lnSpc>
              <a:buNone/>
            </a:pPr>
            <a:r>
              <a:rPr lang="en-US" sz="1400" dirty="0">
                <a:solidFill>
                  <a:srgbClr val="5A5A5A"/>
                </a:solidFill>
                <a:latin typeface="Calibri" pitchFamily="34" charset="0"/>
                <a:ea typeface="Calibri" pitchFamily="34" charset="-122"/>
                <a:cs typeface="Calibri" pitchFamily="34" charset="-120"/>
              </a:rPr>
              <a:t>regions found: Hofmann → Ceck</a:t>
            </a:r>
            <a:endParaRPr lang="en-US" sz="1400" dirty="0"/>
          </a:p>
        </p:txBody>
      </p:sp>
      <p:sp>
        <p:nvSpPr>
          <p:cNvPr id="176" name="Shape 172"/>
          <p:cNvSpPr/>
          <p:nvPr/>
        </p:nvSpPr>
        <p:spPr>
          <a:xfrm>
            <a:off x="34698432" y="9902952"/>
            <a:ext cx="2791968" cy="1691640"/>
          </a:xfrm>
          <a:prstGeom prst="roundRect">
            <a:avLst>
              <a:gd name="adj" fmla="val 3784"/>
            </a:avLst>
          </a:prstGeom>
          <a:solidFill>
            <a:srgbClr val="F4F5F8"/>
          </a:solidFill>
          <a:ln w="9525">
            <a:solidFill>
              <a:srgbClr val="D5D9E3"/>
            </a:solidFill>
            <a:prstDash val="solid"/>
          </a:ln>
        </p:spPr>
      </p:sp>
      <p:sp>
        <p:nvSpPr>
          <p:cNvPr id="177" name="Text 173"/>
          <p:cNvSpPr/>
          <p:nvPr/>
        </p:nvSpPr>
        <p:spPr>
          <a:xfrm>
            <a:off x="34789872" y="10012680"/>
            <a:ext cx="2609088" cy="913486"/>
          </a:xfrm>
          <a:prstGeom prst="rect">
            <a:avLst/>
          </a:prstGeom>
          <a:noFill/>
          <a:ln/>
        </p:spPr>
        <p:txBody>
          <a:bodyPr wrap="square" lIns="0" tIns="0" rIns="0" bIns="0" rtlCol="0" anchor="b"/>
          <a:lstStyle/>
          <a:p>
            <a:pPr algn="ctr" indent="0" marL="0">
              <a:buNone/>
            </a:pPr>
            <a:r>
              <a:rPr lang="en-US" sz="3000" b="1" dirty="0">
                <a:solidFill>
                  <a:srgbClr val="D9971E"/>
                </a:solidFill>
                <a:latin typeface="Cambria" pitchFamily="34" charset="0"/>
                <a:ea typeface="Cambria" pitchFamily="34" charset="-122"/>
                <a:cs typeface="Cambria" pitchFamily="34" charset="-120"/>
              </a:rPr>
              <a:t>.75 / .39</a:t>
            </a:r>
            <a:endParaRPr lang="en-US" sz="3000" dirty="0"/>
          </a:p>
        </p:txBody>
      </p:sp>
      <p:sp>
        <p:nvSpPr>
          <p:cNvPr id="178" name="Text 174"/>
          <p:cNvSpPr/>
          <p:nvPr/>
        </p:nvSpPr>
        <p:spPr>
          <a:xfrm>
            <a:off x="34826448" y="10884103"/>
            <a:ext cx="2535936" cy="676656"/>
          </a:xfrm>
          <a:prstGeom prst="rect">
            <a:avLst/>
          </a:prstGeom>
          <a:noFill/>
          <a:ln/>
        </p:spPr>
        <p:txBody>
          <a:bodyPr wrap="square" lIns="0" tIns="0" rIns="0" bIns="0" rtlCol="0" anchor="t"/>
          <a:lstStyle/>
          <a:p>
            <a:pPr algn="ctr" indent="0" marL="0">
              <a:lnSpc>
                <a:spcPct val="100000"/>
              </a:lnSpc>
              <a:buNone/>
            </a:pPr>
            <a:r>
              <a:rPr lang="en-US" sz="1400" dirty="0">
                <a:solidFill>
                  <a:srgbClr val="5A5A5A"/>
                </a:solidFill>
                <a:latin typeface="Calibri" pitchFamily="34" charset="0"/>
                <a:ea typeface="Calibri" pitchFamily="34" charset="-122"/>
                <a:cs typeface="Calibri" pitchFamily="34" charset="-120"/>
              </a:rPr>
              <a:t>silhouette: Hofmann / Ceck</a:t>
            </a:r>
            <a:endParaRPr lang="en-US" sz="1400" dirty="0"/>
          </a:p>
        </p:txBody>
      </p:sp>
      <p:sp>
        <p:nvSpPr>
          <p:cNvPr id="179" name="Shape 175"/>
          <p:cNvSpPr/>
          <p:nvPr/>
        </p:nvSpPr>
        <p:spPr>
          <a:xfrm>
            <a:off x="28712160" y="12115800"/>
            <a:ext cx="713232" cy="713232"/>
          </a:xfrm>
          <a:prstGeom prst="ellipse">
            <a:avLst/>
          </a:prstGeom>
          <a:solidFill>
            <a:srgbClr val="E6402A"/>
          </a:solidFill>
          <a:ln/>
        </p:spPr>
      </p:sp>
      <p:sp>
        <p:nvSpPr>
          <p:cNvPr id="180" name="Shape 176"/>
          <p:cNvSpPr/>
          <p:nvPr/>
        </p:nvSpPr>
        <p:spPr>
          <a:xfrm>
            <a:off x="28826277" y="12344034"/>
            <a:ext cx="484998" cy="256764"/>
          </a:xfrm>
          <a:prstGeom prst="ellipse">
            <a:avLst/>
          </a:prstGeom>
          <a:solidFill>
            <a:srgbClr val="FFFFFF"/>
          </a:solidFill>
          <a:ln/>
        </p:spPr>
      </p:sp>
      <p:sp>
        <p:nvSpPr>
          <p:cNvPr id="181" name="Shape 177"/>
          <p:cNvSpPr/>
          <p:nvPr/>
        </p:nvSpPr>
        <p:spPr>
          <a:xfrm>
            <a:off x="28997453" y="12401093"/>
            <a:ext cx="142646" cy="142646"/>
          </a:xfrm>
          <a:prstGeom prst="ellipse">
            <a:avLst/>
          </a:prstGeom>
          <a:solidFill>
            <a:srgbClr val="1E2761"/>
          </a:solidFill>
          <a:ln/>
        </p:spPr>
      </p:sp>
      <p:sp>
        <p:nvSpPr>
          <p:cNvPr id="182" name="Text 178"/>
          <p:cNvSpPr/>
          <p:nvPr/>
        </p:nvSpPr>
        <p:spPr>
          <a:xfrm>
            <a:off x="29626560" y="12051792"/>
            <a:ext cx="7863840" cy="8503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Future Directions</a:t>
            </a:r>
            <a:endParaRPr lang="en-US" sz="2800" dirty="0"/>
          </a:p>
        </p:txBody>
      </p:sp>
      <p:sp>
        <p:nvSpPr>
          <p:cNvPr id="183" name="Text 179"/>
          <p:cNvSpPr/>
          <p:nvPr/>
        </p:nvSpPr>
        <p:spPr>
          <a:xfrm>
            <a:off x="28712160" y="13057632"/>
            <a:ext cx="8778240" cy="4023360"/>
          </a:xfrm>
          <a:prstGeom prst="rect">
            <a:avLst/>
          </a:prstGeom>
          <a:noFill/>
          <a:ln/>
        </p:spPr>
        <p:txBody>
          <a:bodyPr wrap="square" lIns="0" tIns="0" rIns="0" bIns="0" rtlCol="0" anchor="t"/>
          <a:lstStyle/>
          <a:p>
            <a:pPr algn="l" marL="254000" indent="-254000">
              <a:lnSpc>
                <a:spcPct val="112000"/>
              </a:lnSpc>
              <a:spcAft>
                <a:spcPts val="1900"/>
              </a:spcAft>
              <a:buSzPct val="100000"/>
              <a:buChar char="●"/>
            </a:pPr>
            <a:r>
              <a:rPr lang="en-US" sz="1750" dirty="0">
                <a:solidFill>
                  <a:srgbClr val="333333"/>
                </a:solidFill>
                <a:latin typeface="Calibri" pitchFamily="34" charset="0"/>
                <a:ea typeface="Calibri" pitchFamily="34" charset="-122"/>
                <a:cs typeface="Calibri" pitchFamily="34" charset="-120"/>
              </a:rPr>
              <a:t>Scale the DBSCAN pipeline across the full poster set (12+ designs), not just two.</a:t>
            </a:r>
            <a:endParaRPr lang="en-US" sz="1750" dirty="0"/>
          </a:p>
          <a:p>
            <a:pPr algn="l" marL="254000" indent="-254000">
              <a:lnSpc>
                <a:spcPct val="112000"/>
              </a:lnSpc>
              <a:spcAft>
                <a:spcPts val="1900"/>
              </a:spcAft>
              <a:buSzPct val="100000"/>
              <a:buChar char="●"/>
            </a:pPr>
            <a:r>
              <a:rPr lang="en-US" sz="1750" dirty="0">
                <a:solidFill>
                  <a:srgbClr val="333333"/>
                </a:solidFill>
                <a:latin typeface="Calibri" pitchFamily="34" charset="0"/>
                <a:ea typeface="Calibri" pitchFamily="34" charset="-122"/>
                <a:cs typeface="Calibri" pitchFamily="34" charset="-120"/>
              </a:rPr>
              <a:t>Automate region content-labeling (text / image / color) with OCR and object detection.</a:t>
            </a:r>
            <a:endParaRPr lang="en-US" sz="1750" dirty="0"/>
          </a:p>
          <a:p>
            <a:pPr algn="l" marL="254000" indent="-254000">
              <a:lnSpc>
                <a:spcPct val="112000"/>
              </a:lnSpc>
              <a:spcAft>
                <a:spcPts val="1900"/>
              </a:spcAft>
              <a:buSzPct val="100000"/>
              <a:buChar char="●"/>
            </a:pPr>
            <a:r>
              <a:rPr lang="en-US" sz="1750" dirty="0">
                <a:solidFill>
                  <a:srgbClr val="333333"/>
                </a:solidFill>
                <a:latin typeface="Calibri" pitchFamily="34" charset="0"/>
                <a:ea typeface="Calibri" pitchFamily="34" charset="-122"/>
                <a:cs typeface="Calibri" pitchFamily="34" charset="-120"/>
              </a:rPr>
              <a:t>Study individual scanning strategies (text-first vs. image-first viewers) via per-participant clustering.</a:t>
            </a:r>
            <a:endParaRPr lang="en-US" sz="1750" dirty="0"/>
          </a:p>
          <a:p>
            <a:pPr algn="l" marL="254000" indent="-254000">
              <a:lnSpc>
                <a:spcPct val="112000"/>
              </a:lnSpc>
              <a:spcAft>
                <a:spcPts val="1900"/>
              </a:spcAft>
              <a:buSzPct val="100000"/>
              <a:buChar char="●"/>
            </a:pPr>
            <a:r>
              <a:rPr lang="en-US" sz="1750" dirty="0">
                <a:solidFill>
                  <a:srgbClr val="333333"/>
                </a:solidFill>
                <a:latin typeface="Calibri" pitchFamily="34" charset="0"/>
                <a:ea typeface="Calibri" pitchFamily="34" charset="-122"/>
                <a:cs typeface="Calibri" pitchFamily="34" charset="-120"/>
              </a:rPr>
              <a:t>Link gaze metrics to the post-viewing survey data already collected (recall, preference).</a:t>
            </a:r>
            <a:endParaRPr lang="en-US" sz="1750" dirty="0"/>
          </a:p>
          <a:p>
            <a:pPr algn="l" marL="254000" indent="-254000">
              <a:lnSpc>
                <a:spcPct val="112000"/>
              </a:lnSpc>
              <a:spcAft>
                <a:spcPts val="1900"/>
              </a:spcAft>
              <a:buSzPct val="100000"/>
              <a:buChar char="●"/>
            </a:pPr>
            <a:r>
              <a:rPr lang="en-US" sz="1750" dirty="0">
                <a:solidFill>
                  <a:srgbClr val="333333"/>
                </a:solidFill>
                <a:latin typeface="Calibri" pitchFamily="34" charset="0"/>
                <a:ea typeface="Calibri" pitchFamily="34" charset="-122"/>
                <a:cs typeface="Calibri" pitchFamily="34" charset="-120"/>
              </a:rPr>
              <a:t>Try HDBSCAN to handle regions of very different density in a single pass.</a:t>
            </a:r>
            <a:endParaRPr lang="en-US" sz="1750" dirty="0"/>
          </a:p>
        </p:txBody>
      </p:sp>
      <p:sp>
        <p:nvSpPr>
          <p:cNvPr id="184" name="Shape 180"/>
          <p:cNvSpPr/>
          <p:nvPr/>
        </p:nvSpPr>
        <p:spPr>
          <a:xfrm>
            <a:off x="28712160" y="17465040"/>
            <a:ext cx="713232" cy="713232"/>
          </a:xfrm>
          <a:prstGeom prst="ellipse">
            <a:avLst/>
          </a:prstGeom>
          <a:solidFill>
            <a:srgbClr val="E6402A"/>
          </a:solidFill>
          <a:ln/>
        </p:spPr>
      </p:sp>
      <p:sp>
        <p:nvSpPr>
          <p:cNvPr id="185" name="Shape 181"/>
          <p:cNvSpPr/>
          <p:nvPr/>
        </p:nvSpPr>
        <p:spPr>
          <a:xfrm>
            <a:off x="28826277" y="17693274"/>
            <a:ext cx="484998" cy="256764"/>
          </a:xfrm>
          <a:prstGeom prst="ellipse">
            <a:avLst/>
          </a:prstGeom>
          <a:solidFill>
            <a:srgbClr val="FFFFFF"/>
          </a:solidFill>
          <a:ln/>
        </p:spPr>
      </p:sp>
      <p:sp>
        <p:nvSpPr>
          <p:cNvPr id="186" name="Shape 182"/>
          <p:cNvSpPr/>
          <p:nvPr/>
        </p:nvSpPr>
        <p:spPr>
          <a:xfrm>
            <a:off x="28997453" y="17750333"/>
            <a:ext cx="142646" cy="142646"/>
          </a:xfrm>
          <a:prstGeom prst="ellipse">
            <a:avLst/>
          </a:prstGeom>
          <a:solidFill>
            <a:srgbClr val="1E2761"/>
          </a:solidFill>
          <a:ln/>
        </p:spPr>
      </p:sp>
      <p:sp>
        <p:nvSpPr>
          <p:cNvPr id="187" name="Text 183"/>
          <p:cNvSpPr/>
          <p:nvPr/>
        </p:nvSpPr>
        <p:spPr>
          <a:xfrm>
            <a:off x="29626560" y="17401032"/>
            <a:ext cx="7863840" cy="850392"/>
          </a:xfrm>
          <a:prstGeom prst="rect">
            <a:avLst/>
          </a:prstGeom>
          <a:noFill/>
          <a:ln/>
        </p:spPr>
        <p:txBody>
          <a:bodyPr wrap="square" lIns="0" tIns="0" rIns="0" bIns="0" rtlCol="0" anchor="ctr"/>
          <a:lstStyle/>
          <a:p>
            <a:pPr algn="l" indent="0" marL="0">
              <a:buNone/>
            </a:pPr>
            <a:r>
              <a:rPr lang="en-US" sz="2400" b="1" dirty="0">
                <a:solidFill>
                  <a:srgbClr val="1E2761"/>
                </a:solidFill>
                <a:latin typeface="Cambria" pitchFamily="34" charset="0"/>
                <a:ea typeface="Cambria" pitchFamily="34" charset="-122"/>
                <a:cs typeface="Cambria" pitchFamily="34" charset="-120"/>
              </a:rPr>
              <a:t>Limitations</a:t>
            </a:r>
            <a:endParaRPr lang="en-US" sz="2400" dirty="0"/>
          </a:p>
        </p:txBody>
      </p:sp>
      <p:sp>
        <p:nvSpPr>
          <p:cNvPr id="188" name="Text 184"/>
          <p:cNvSpPr/>
          <p:nvPr/>
        </p:nvSpPr>
        <p:spPr>
          <a:xfrm>
            <a:off x="28712160" y="18269712"/>
            <a:ext cx="8778240" cy="1280160"/>
          </a:xfrm>
          <a:prstGeom prst="rect">
            <a:avLst/>
          </a:prstGeom>
          <a:noFill/>
          <a:ln/>
        </p:spPr>
        <p:txBody>
          <a:bodyPr wrap="square" lIns="0" tIns="0" rIns="0" bIns="0" rtlCol="0" anchor="t"/>
          <a:lstStyle/>
          <a:p>
            <a:pPr algn="l" marL="254000" indent="-254000">
              <a:lnSpc>
                <a:spcPct val="112000"/>
              </a:lnSpc>
              <a:spcAft>
                <a:spcPts val="1600"/>
              </a:spcAft>
              <a:buSzPct val="100000"/>
              <a:buChar char="●"/>
            </a:pPr>
            <a:r>
              <a:rPr lang="en-US" sz="1700" dirty="0">
                <a:solidFill>
                  <a:srgbClr val="333333"/>
                </a:solidFill>
                <a:latin typeface="Calibri" pitchFamily="34" charset="0"/>
                <a:ea typeface="Calibri" pitchFamily="34" charset="-122"/>
                <a:cs typeface="Calibri" pitchFamily="34" charset="-120"/>
              </a:rPr>
              <a:t>Only 2 of the full poster set analyzed so far.</a:t>
            </a:r>
            <a:endParaRPr lang="en-US" sz="1700" dirty="0"/>
          </a:p>
          <a:p>
            <a:pPr algn="l" marL="254000" indent="-254000">
              <a:lnSpc>
                <a:spcPct val="112000"/>
              </a:lnSpc>
              <a:spcAft>
                <a:spcPts val="1600"/>
              </a:spcAft>
              <a:buSzPct val="100000"/>
              <a:buChar char="●"/>
            </a:pPr>
            <a:r>
              <a:rPr lang="en-US" sz="1700" dirty="0">
                <a:solidFill>
                  <a:srgbClr val="333333"/>
                </a:solidFill>
                <a:latin typeface="Calibri" pitchFamily="34" charset="0"/>
                <a:ea typeface="Calibri" pitchFamily="34" charset="-122"/>
                <a:cs typeface="Calibri" pitchFamily="34" charset="-120"/>
              </a:rPr>
              <a:t>Region content-type (text / shape / color) still classified by visual judgment, not automatically.</a:t>
            </a:r>
            <a:endParaRPr lang="en-US" sz="1700" dirty="0"/>
          </a:p>
        </p:txBody>
      </p:sp>
      <p:sp>
        <p:nvSpPr>
          <p:cNvPr id="189" name="Shape 185"/>
          <p:cNvSpPr/>
          <p:nvPr/>
        </p:nvSpPr>
        <p:spPr>
          <a:xfrm>
            <a:off x="28712160" y="19869912"/>
            <a:ext cx="8778240" cy="0"/>
          </a:xfrm>
          <a:prstGeom prst="line">
            <a:avLst/>
          </a:prstGeom>
          <a:noFill/>
          <a:ln w="12700">
            <a:solidFill>
              <a:srgbClr val="D5D9E3"/>
            </a:solidFill>
            <a:prstDash val="solid"/>
          </a:ln>
        </p:spPr>
      </p:sp>
      <p:sp>
        <p:nvSpPr>
          <p:cNvPr id="190" name="Text 186"/>
          <p:cNvSpPr/>
          <p:nvPr/>
        </p:nvSpPr>
        <p:spPr>
          <a:xfrm>
            <a:off x="28712160" y="20189952"/>
            <a:ext cx="877824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Acknowledgements</a:t>
            </a:r>
            <a:endParaRPr lang="en-US" sz="1900" dirty="0"/>
          </a:p>
        </p:txBody>
      </p:sp>
      <p:sp>
        <p:nvSpPr>
          <p:cNvPr id="191" name="Text 187"/>
          <p:cNvSpPr/>
          <p:nvPr/>
        </p:nvSpPr>
        <p:spPr>
          <a:xfrm>
            <a:off x="28712160" y="20756880"/>
            <a:ext cx="8778240" cy="1051560"/>
          </a:xfrm>
          <a:prstGeom prst="rect">
            <a:avLst/>
          </a:prstGeom>
          <a:noFill/>
          <a:ln/>
        </p:spPr>
        <p:txBody>
          <a:bodyPr wrap="square" lIns="0" tIns="0" rIns="0" bIns="0" rtlCol="0" anchor="t"/>
          <a:lstStyle/>
          <a:p>
            <a:pPr algn="l" indent="0" marL="0">
              <a:lnSpc>
                <a:spcPct val="120000"/>
              </a:lnSpc>
              <a:buNone/>
            </a:pPr>
            <a:r>
              <a:rPr lang="en-US" sz="1550" i="1" dirty="0">
                <a:solidFill>
                  <a:srgbClr val="5A5A5A"/>
                </a:solidFill>
                <a:latin typeface="Calibri" pitchFamily="34" charset="0"/>
                <a:ea typeface="Calibri" pitchFamily="34" charset="-122"/>
                <a:cs typeface="Calibri" pitchFamily="34" charset="-120"/>
              </a:rPr>
              <a:t>We thank the TReNDS Center and Georgia State University for supporting this research. [Add funding / grant info here.]</a:t>
            </a:r>
            <a:endParaRPr lang="en-US" sz="1550" dirty="0"/>
          </a:p>
        </p:txBody>
      </p:sp>
      <p:sp>
        <p:nvSpPr>
          <p:cNvPr id="192" name="Text 188"/>
          <p:cNvSpPr/>
          <p:nvPr/>
        </p:nvSpPr>
        <p:spPr>
          <a:xfrm>
            <a:off x="28712160" y="22037040"/>
            <a:ext cx="8778240" cy="45720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Contact</a:t>
            </a:r>
            <a:endParaRPr lang="en-US" sz="1900" dirty="0"/>
          </a:p>
        </p:txBody>
      </p:sp>
      <p:sp>
        <p:nvSpPr>
          <p:cNvPr id="193" name="Text 189"/>
          <p:cNvSpPr/>
          <p:nvPr/>
        </p:nvSpPr>
        <p:spPr>
          <a:xfrm>
            <a:off x="28712160" y="22603968"/>
            <a:ext cx="8778240" cy="1554480"/>
          </a:xfrm>
          <a:prstGeom prst="rect">
            <a:avLst/>
          </a:prstGeom>
          <a:noFill/>
          <a:ln/>
        </p:spPr>
        <p:txBody>
          <a:bodyPr wrap="square" lIns="0" tIns="0" rIns="0" bIns="0" rtlCol="0" anchor="t"/>
          <a:lstStyle/>
          <a:p>
            <a:pPr algn="l" indent="0" marL="0">
              <a:lnSpc>
                <a:spcPct val="125000"/>
              </a:lnSpc>
              <a:buNone/>
            </a:pPr>
            <a:r>
              <a:rPr lang="en-US" sz="1550" b="1" dirty="0">
                <a:solidFill>
                  <a:srgbClr val="333333"/>
                </a:solidFill>
                <a:latin typeface="Calibri" pitchFamily="34" charset="0"/>
                <a:ea typeface="Calibri" pitchFamily="34" charset="-122"/>
                <a:cs typeface="Calibri" pitchFamily="34" charset="-120"/>
              </a:rPr>
              <a:t>Vishnavi Abhishikta Bollapalli, Ze Kai Yang,
Jingyu Liu, Xinran Hu
</a:t>
            </a:r>
            <a:endParaRPr lang="en-US" sz="1550" dirty="0"/>
          </a:p>
          <a:p>
            <a:pPr algn="l" indent="0" marL="0">
              <a:lnSpc>
                <a:spcPct val="125000"/>
              </a:lnSpc>
              <a:buNone/>
            </a:pPr>
            <a:r>
              <a:rPr lang="en-US" sz="1550" dirty="0">
                <a:solidFill>
                  <a:srgbClr val="333333"/>
                </a:solidFill>
                <a:latin typeface="Calibri" pitchFamily="34" charset="0"/>
                <a:ea typeface="Calibri" pitchFamily="34" charset="-122"/>
                <a:cs typeface="Calibri" pitchFamily="34" charset="-120"/>
              </a:rPr>
              <a:t>vaishnavibollapalli@gmail.com</a:t>
            </a:r>
            <a:endParaRPr lang="en-US" sz="1550" dirty="0"/>
          </a:p>
          <a:p>
            <a:pPr algn="l" indent="0" marL="0">
              <a:lnSpc>
                <a:spcPct val="125000"/>
              </a:lnSpc>
              <a:buNone/>
            </a:pPr>
            <a:r>
              <a:rPr lang="en-US" sz="1550" dirty="0">
                <a:solidFill>
                  <a:srgbClr val="333333"/>
                </a:solidFill>
                <a:latin typeface="Calibri" pitchFamily="34" charset="0"/>
                <a:ea typeface="Calibri" pitchFamily="34" charset="-122"/>
                <a:cs typeface="Calibri" pitchFamily="34" charset="-120"/>
              </a:rPr>
              <a:t>[edit / add co-author emails]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2026-07-29T18:23:17Z</dcterms:created>
  <dcterms:modified xsi:type="dcterms:W3CDTF">2026-07-29T18:23:17Z</dcterms:modified>
</cp:coreProperties>
</file>