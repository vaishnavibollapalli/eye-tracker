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312AC4-07A5-4E02-8274-ACCF9539A4FD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F51911-40E7-40CE-A288-34A1C30287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15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every fixation point (its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px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position on the poster canvas), find the distance to its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10th-nearest neighbor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among all the other fixations for that poster (OUTLIER_K = 10).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fixation sitting inside a dense cluster of gazes has a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10th-neighbor distance (lots of nearby points).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fixation sitting off on its own has a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10th-neighbor distance (its neighbors are far away).</a:t>
            </a: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(median absolute deviation, scaled by 1.4826 so it behaves like a standard deviation for normal data — this is the "robust" version of a z-score, not thrown off by the outliers themselves the way a mean/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stdev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would be) of all those distances.</a:t>
            </a: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 a cutoff: median + 3 × MAD (OUTLIER_MAD_MULT = 3.0).</a:t>
            </a: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 fixation whose 10th-neighbor distance exceeds that cutoff is dropped as an outlier; everything else is kept.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F51911-40E7-40CE-A288-34A1C302876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10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jp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8.jp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2.jp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6.jp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0.jpg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4.jpg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8.jpg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32.jpg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36.jpg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0.jpg"/><Relationship Id="rId2" Type="http://schemas.openxmlformats.org/officeDocument/2006/relationships/video" Target="../media/media10.mp4"/><Relationship Id="rId1" Type="http://schemas.microsoft.com/office/2007/relationships/media" Target="../media/media10.mp4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4.jpg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8.jpg"/><Relationship Id="rId2" Type="http://schemas.openxmlformats.org/officeDocument/2006/relationships/video" Target="../media/media12.mp4"/><Relationship Id="rId1" Type="http://schemas.microsoft.com/office/2007/relationships/media" Target="../media/media12.mp4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52.jpg"/><Relationship Id="rId2" Type="http://schemas.openxmlformats.org/officeDocument/2006/relationships/video" Target="../media/media13.mp4"/><Relationship Id="rId1" Type="http://schemas.microsoft.com/office/2007/relationships/media" Target="../media/media13.mp4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56.jpg"/><Relationship Id="rId2" Type="http://schemas.openxmlformats.org/officeDocument/2006/relationships/video" Target="../media/media14.mp4"/><Relationship Id="rId1" Type="http://schemas.microsoft.com/office/2007/relationships/media" Target="../media/media14.mp4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0.jpg"/><Relationship Id="rId2" Type="http://schemas.openxmlformats.org/officeDocument/2006/relationships/video" Target="../media/media15.mp4"/><Relationship Id="rId1" Type="http://schemas.microsoft.com/office/2007/relationships/media" Target="../media/media15.mp4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59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Georgia"/>
              </a:defRPr>
            </a:pPr>
            <a:r>
              <a:t>Eye-Tracking Region Clustering</a:t>
            </a:r>
          </a:p>
          <a:p>
            <a:pPr>
              <a:spcBef>
                <a:spcPts val="1000"/>
              </a:spcBef>
              <a:defRPr sz="2200">
                <a:solidFill>
                  <a:srgbClr val="B9EDE1"/>
                </a:solidFill>
              </a:defRPr>
            </a:pPr>
            <a:r>
              <a:t>DBSCAN vs. Agglomerative vs. Divisive Hierarchical Clustering</a:t>
            </a:r>
          </a:p>
          <a:p>
            <a:pPr>
              <a:spcBef>
                <a:spcPts val="1400"/>
              </a:spcBef>
              <a:defRPr sz="1400">
                <a:solidFill>
                  <a:srgbClr val="9BB0AC"/>
                </a:solidFill>
              </a:defRPr>
            </a:pPr>
            <a:r>
              <a:t>15 posters · 48 participants · fixation regions compared across three clustering methods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523"/>
                </a:solidFill>
                <a:latin typeface="Georgia"/>
              </a:defRPr>
            </a:pPr>
            <a:r>
              <a:t>Methodology — Parameters Changed From Library Defaults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rPr dirty="0"/>
              <a:t>• Outlier filtering (applied before any clustering, identically for all 3 methods)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Not a library default — custom pre-filter: a fixation is dropped if its distance to its 10th-nearest </a:t>
            </a:r>
            <a:r>
              <a:rPr dirty="0" err="1"/>
              <a:t>neighbour</a:t>
            </a:r>
            <a:r>
              <a:rPr dirty="0"/>
              <a:t> exceeds median + 3×MAD (robust z-score cutoff)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Removes stray/isolated fixations (4–10% per poster) that would otherwise stretch a region's boundary or anchor their own spurious micro-cluster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rPr dirty="0"/>
              <a:t>• DBSCAN (</a:t>
            </a:r>
            <a:r>
              <a:rPr dirty="0" err="1"/>
              <a:t>sklearn.cluster.DBSCAN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Default eps=0.5, </a:t>
            </a:r>
            <a:r>
              <a:rPr dirty="0" err="1"/>
              <a:t>min_samples</a:t>
            </a:r>
            <a:r>
              <a:rPr dirty="0"/>
              <a:t>=5 are meaningless at 1936×1208 pixel scale — grid-searched eps ∈ {18…80}</a:t>
            </a:r>
            <a:r>
              <a:rPr dirty="0" err="1"/>
              <a:t>px</a:t>
            </a:r>
            <a:r>
              <a:rPr dirty="0"/>
              <a:t> × </a:t>
            </a:r>
            <a:r>
              <a:rPr dirty="0" err="1"/>
              <a:t>min_samples</a:t>
            </a:r>
            <a:r>
              <a:rPr dirty="0"/>
              <a:t> ∈ {8…30} instead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k (region count) chosen from a narrowed 3–5 range (not the default unconstrained cluster count DBSCAN would otherwise find)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Selection criterion is a combined silhouette + Davies-Bouldin "separation" score, not silhouette alone — and the noise-fraction gate (2–25%, capped at 40% on fallback) stops DBSCAN from "winning" via a tiny ultra-dense core with most points discarded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rPr dirty="0"/>
              <a:t>• Agglomerative (</a:t>
            </a:r>
            <a:r>
              <a:rPr dirty="0" err="1"/>
              <a:t>scipy.cluster.hierarchy.linkage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Linkage changed from </a:t>
            </a:r>
            <a:r>
              <a:rPr dirty="0" err="1"/>
              <a:t>scipy's</a:t>
            </a:r>
            <a:r>
              <a:rPr dirty="0"/>
              <a:t> default 'single' (chains nearest-</a:t>
            </a:r>
            <a:r>
              <a:rPr dirty="0" err="1"/>
              <a:t>neighbour</a:t>
            </a:r>
            <a:r>
              <a:rPr dirty="0"/>
              <a:t> pairs into long, stringy clusters) to 'ward' (minimizes within-cluster variance → compact, convex regions)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Cut height (k) chosen 3–5 by the same combined separation score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rPr dirty="0"/>
              <a:t>• Divisive (bisecting k-means — hand-built; scikit-learn has no divisive clustering class)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Each 2-way split's inner </a:t>
            </a:r>
            <a:r>
              <a:rPr dirty="0" err="1"/>
              <a:t>KMeans</a:t>
            </a:r>
            <a:r>
              <a:rPr dirty="0"/>
              <a:t> uses </a:t>
            </a:r>
            <a:r>
              <a:rPr dirty="0" err="1"/>
              <a:t>n_init</a:t>
            </a:r>
            <a:r>
              <a:rPr dirty="0"/>
              <a:t>=10 (explicit, not version-dependent 'auto') and </a:t>
            </a:r>
            <a:r>
              <a:rPr dirty="0" err="1"/>
              <a:t>random_state</a:t>
            </a:r>
            <a:r>
              <a:rPr dirty="0"/>
              <a:t>=42 (</a:t>
            </a:r>
            <a:r>
              <a:rPr dirty="0" err="1"/>
              <a:t>sklearn</a:t>
            </a:r>
            <a:r>
              <a:rPr dirty="0"/>
              <a:t> default is None / non-reproducible)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Split-selection rule is deliberate: always bisect the cluster with the largest current SSE, so splits are spent where they most increase separation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rPr dirty="0"/>
              <a:t>    – k chosen 3–5 by the same combined separation score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523"/>
                </a:solidFill>
                <a:latin typeface="Georgia"/>
              </a:defRPr>
            </a:pPr>
            <a:r>
              <a:t>Results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698480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Poster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Silhouette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Davies-Bouldin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Noise %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ArminHofman-1955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BarryCeck-1988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0.461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0.739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DavidCarson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DavidCarson-1990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Divisive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0.571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0.609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EllaRosenblatt-2021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IrisChung-2015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0.730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JanTschichold-1927-DieFrauohneNamen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JanTschichold-1938-Der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0.642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JoostSchmidt-1923-Saatliches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PaulRand-1947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Divisive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0.545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0.648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PaulaScher-1995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Divisive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ScottBarry-2010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0.524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0.584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SeanAlatorre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11.3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bookcover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0.473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0.749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nancy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Armin Hofman- 1955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(0.796 after a 20% noise discount), silhouette 0.750, Davies-Bouldin 0.324; Agglomerative scored 0.031 (silhouette 0.635, DB 0.434); Divisive scored 0.009 (silhouette 0.637, DB 0.441).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(DBSCAN)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Barry Ceck - 1988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(1.000), silhouette 0.461, Davies-Bouldin 0.739; DBSCAN scored 0.000 (silhouette 0.130, DB 0.903, 4% noise); Divisive scored 0.899 (silhouette 0.449, DB 0.766).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(Agglomerative)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David Carson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(0.768 after a 23% noise discount), silhouette 0.525, Davies-Bouldin 0.515; Agglomerative scored 0.156 (silhouette 0.470, DB 0.643); Divisive scored 0.429 (silhouette 0.517, DB 0.700).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(DBSCAN)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David Carson - 1990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Divisive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Divisive wins: highest separation score (0.709), silhouette 0.571, Davies-Bouldin 0.609; DBSCAN scored 0.433 (silhouette 0.532, DB 0.582, 13% noise); Agglomerative scored 0.410 (silhouette 0.564, DB 0.628).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(Divisive)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(Divisive)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Ella Rosenblatt- 2021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(0.500), silhouette 0.574, Davies-Bouldin 0.584; DBSCAN scored 0.455 (silhouette 0.500, DB 0.532, 9% noise); Divisive scored 0.444 (silhouette 0.557, DB 0.577).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(Agglomerative)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Iris Chung- 2015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(0.655), silhouette 0.431, Davies-Bouldin 0.730; DBSCAN scored 0.485 (silhouette 0.399, DB 0.521, 3% noise); Divisive scored 0.121 (silhouette 0.407, DB 0.824).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(Agglomerative)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Jan Tschichold-1927-Die Frau ohne Namen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(0.912 after a 9% noise discount), silhouette 0.626, Davies-Bouldin 0.444; Agglomerative scored 0.191 (silhouette 0.501, DB 0.669); Divisive scored 0.000 (silhouette 0.484, DB 0.748).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(DBSCAN)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Jan Tschichold-1938-Der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(1.000), silhouette 0.642, Davies-Bouldin 0.475; DBSCAN scored 0.018 (silhouette 0.608, DB 0.531, 2% noise); Divisive scored 0.096 (silhouette 0.606, DB 0.520).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(Agglomerative)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Joost Schmidt-1923-Saatliches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(0.943 after a 6% noise discount), silhouette 0.515, Davies-Bouldin 0.459; Agglomerative scored 0.555 (silhouette 0.499, DB 0.690); Divisive scored 0.000 (silhouette 0.432, DB 0.789).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(DBSCAN)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Paul Rand, 1947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Divisive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Divisive wins: highest separation score (0.670), silhouette 0.545, Davies-Bouldin 0.648; DBSCAN scored 0.451 (silhouette 0.476, DB 0.519, 10% noise); Agglomerative scored 0.230 (silhouette 0.508, DB 0.714).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(Divisive)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(Divisive)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Paula Scher - 1995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Divisive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Divisive wins: highest separation score (0.588), silhouette 0.479, Davies-Bouldin 0.763; DBSCAN scored 0.484 (silhouette 0.280, DB 0.718, 3% noise); Agglomerative scored 0.423 (silhouette 0.449, DB 0.773).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(Divisive)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(Divisive)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Scott Barry- 2010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(0.976 after a 2% noise discount), silhouette 0.524, Davies-Bouldin 0.584; Agglomerative scored 0.703 (silhouette 0.521, DB 0.664); Divisive scored 0.000 (silhouette 0.452, DB 0.730).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(DBSCAN)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Sean Alatorre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(0.887 after a 11% noise discount), silhouette 0.583, Davies-Bouldin 0.462; Agglomerative scored 0.343 (silhouette 0.542, DB 0.568); Divisive scored 0.000 (silhouette 0.533, DB 0.671).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(DBSCAN)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bookcover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(1.000), silhouette 0.473, Davies-Bouldin 0.749; DBSCAN scored 0.000 (silhouette 0.047, DB 1.302, 5% noise); Divisive scored 0.837 (silhouette 0.424, DB 0.865).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(Agglomerative)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nancy poster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(0.758 after a 24% noise discount), silhouette 0.696, Davies-Bouldin 0.387; Agglomerative scored 0.337 (silhouette 0.588, DB 0.557); Divisive scored 0.000 (silhouette 0.534, DB 0.644).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2447" y="2897428"/>
            <a:ext cx="4206240" cy="2804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5244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Path (DBSCAN)</a:t>
            </a:r>
          </a:p>
        </p:txBody>
      </p:sp>
      <p:pic>
        <p:nvPicPr>
          <p:cNvPr id="12" name="path_anima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3007" y="2897428"/>
            <a:ext cx="4206240" cy="280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72902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1580</Words>
  <Application>Microsoft Office PowerPoint</Application>
  <PresentationFormat>Widescreen</PresentationFormat>
  <Paragraphs>242</Paragraphs>
  <Slides>18</Slides>
  <Notes>1</Notes>
  <HiddenSlides>0</HiddenSlides>
  <MMClips>15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chandra bollapalli</cp:lastModifiedBy>
  <cp:revision>2</cp:revision>
  <dcterms:created xsi:type="dcterms:W3CDTF">2013-01-27T09:14:16Z</dcterms:created>
  <dcterms:modified xsi:type="dcterms:W3CDTF">2026-10-08T20:38:36Z</dcterms:modified>
  <cp:category/>
</cp:coreProperties>
</file>