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microsoft.com/office/2007/relationships/media" Target="../media/media1.mp4"/><Relationship Id="rId7" Type="http://schemas.openxmlformats.org/officeDocument/2006/relationships/video" Target="../media/media1.mp4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Relationship Id="rId6" Type="http://schemas.microsoft.com/office/2007/relationships/media" Target="../media/media2.mp4"/><Relationship Id="rId7" Type="http://schemas.openxmlformats.org/officeDocument/2006/relationships/video" Target="../media/media2.mp4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jpg"/><Relationship Id="rId6" Type="http://schemas.microsoft.com/office/2007/relationships/media" Target="../media/media3.mp4"/><Relationship Id="rId7" Type="http://schemas.openxmlformats.org/officeDocument/2006/relationships/video" Target="../media/media3.mp4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Relationship Id="rId6" Type="http://schemas.microsoft.com/office/2007/relationships/media" Target="../media/media4.mp4"/><Relationship Id="rId7" Type="http://schemas.openxmlformats.org/officeDocument/2006/relationships/video" Target="../media/media4.mp4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jpg"/><Relationship Id="rId6" Type="http://schemas.microsoft.com/office/2007/relationships/media" Target="../media/media5.mp4"/><Relationship Id="rId7" Type="http://schemas.openxmlformats.org/officeDocument/2006/relationships/video" Target="../media/media5.mp4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microsoft.com/office/2007/relationships/media" Target="../media/media6.mp4"/><Relationship Id="rId7" Type="http://schemas.openxmlformats.org/officeDocument/2006/relationships/video" Target="../media/media6.mp4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jpg"/><Relationship Id="rId6" Type="http://schemas.microsoft.com/office/2007/relationships/media" Target="../media/media7.mp4"/><Relationship Id="rId7" Type="http://schemas.openxmlformats.org/officeDocument/2006/relationships/video" Target="../media/media7.mp4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jpg"/><Relationship Id="rId6" Type="http://schemas.microsoft.com/office/2007/relationships/media" Target="../media/media8.mp4"/><Relationship Id="rId7" Type="http://schemas.openxmlformats.org/officeDocument/2006/relationships/video" Target="../media/media8.mp4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jpg"/><Relationship Id="rId6" Type="http://schemas.microsoft.com/office/2007/relationships/media" Target="../media/media9.mp4"/><Relationship Id="rId7" Type="http://schemas.openxmlformats.org/officeDocument/2006/relationships/video" Target="../media/media9.mp4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jpg"/><Relationship Id="rId6" Type="http://schemas.microsoft.com/office/2007/relationships/media" Target="../media/media10.mp4"/><Relationship Id="rId7" Type="http://schemas.openxmlformats.org/officeDocument/2006/relationships/video" Target="../media/media10.mp4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microsoft.com/office/2007/relationships/media" Target="../media/media11.mp4"/><Relationship Id="rId7" Type="http://schemas.openxmlformats.org/officeDocument/2006/relationships/video" Target="../media/media11.mp4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jpg"/><Relationship Id="rId6" Type="http://schemas.microsoft.com/office/2007/relationships/media" Target="../media/media12.mp4"/><Relationship Id="rId7" Type="http://schemas.openxmlformats.org/officeDocument/2006/relationships/video" Target="../media/media12.mp4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jpg"/><Relationship Id="rId6" Type="http://schemas.microsoft.com/office/2007/relationships/media" Target="../media/media13.mp4"/><Relationship Id="rId7" Type="http://schemas.openxmlformats.org/officeDocument/2006/relationships/video" Target="../media/media13.mp4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jpg"/><Relationship Id="rId6" Type="http://schemas.microsoft.com/office/2007/relationships/media" Target="../media/media14.mp4"/><Relationship Id="rId7" Type="http://schemas.openxmlformats.org/officeDocument/2006/relationships/video" Target="../media/media14.mp4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jpg"/><Relationship Id="rId6" Type="http://schemas.microsoft.com/office/2007/relationships/media" Target="../media/media15.mp4"/><Relationship Id="rId7" Type="http://schemas.openxmlformats.org/officeDocument/2006/relationships/video" Target="../media/media15.mp4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59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Georgia"/>
              </a:defRPr>
            </a:pPr>
            <a:r>
              <a:t>Eye-Tracking Region Clustering</a:t>
            </a:r>
          </a:p>
          <a:p>
            <a:pPr>
              <a:spcBef>
                <a:spcPts val="1000"/>
              </a:spcBef>
              <a:defRPr sz="2200">
                <a:solidFill>
                  <a:srgbClr val="B9EDE1"/>
                </a:solidFill>
              </a:defRPr>
            </a:pPr>
            <a:r>
              <a:t>DBSCAN vs. Agglomerative vs. Divisive Hierarchical Clustering</a:t>
            </a:r>
          </a:p>
          <a:p>
            <a:pPr>
              <a:spcBef>
                <a:spcPts val="1400"/>
              </a:spcBef>
              <a:defRPr sz="1400">
                <a:solidFill>
                  <a:srgbClr val="9BB0AC"/>
                </a:solidFill>
              </a:defRPr>
            </a:pPr>
            <a:r>
              <a:t>15 posters · 48 participants · fixation regions compared across three clustering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23"/>
                </a:solidFill>
                <a:latin typeface="Georgia"/>
              </a:defRPr>
            </a:pPr>
            <a:r>
              <a:t>Methodology — Parameters Changed From Library Defaults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523"/>
                </a:solidFill>
              </a:defRPr>
            </a:pPr>
            <a:r>
              <a:t>• Outlier filtering (applied before any clustering, identically for all 3 methods)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Not a library default — custom pre-filter: a fixation is dropped if its distance to its 10th-nearest neighbour exceeds median + 3×MAD (robust z-score cutoff)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Removes stray/isolated fixations (4–10% per poster) that would otherwise stretch a region's boundary or anchor their own spurious micro-cluster</a:t>
            </a:r>
          </a:p>
          <a:p>
            <a:pPr>
              <a:spcAft>
                <a:spcPts val="800"/>
              </a:spcAft>
              <a:defRPr sz="1700" b="1">
                <a:solidFill>
                  <a:srgbClr val="142523"/>
                </a:solidFill>
              </a:defRPr>
            </a:pPr>
            <a:r>
              <a:t>• DBSCAN (sklearn.cluster.DBSCAN)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Default eps=0.5, min_samples=5 are meaningless at 1936×1208 pixel scale — grid-searched eps ∈ {18…80}px × min_samples ∈ {8…30} instead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k (region count) chosen from a narrowed 3–5 range (not the default unconstrained cluster count DBSCAN would otherwise find)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Selection criterion is a combined silhouette + Davies-Bouldin "separation" score, not silhouette alone — and the noise-fraction gate (2–25%, capped at 40% on fallback) stops DBSCAN from "winning" via a tiny ultra-dense core with most points discarded</a:t>
            </a:r>
          </a:p>
          <a:p>
            <a:pPr>
              <a:spcAft>
                <a:spcPts val="800"/>
              </a:spcAft>
              <a:defRPr sz="1700" b="1">
                <a:solidFill>
                  <a:srgbClr val="142523"/>
                </a:solidFill>
              </a:defRPr>
            </a:pPr>
            <a:r>
              <a:t>• Agglomerative (scipy.cluster.hierarchy.linkage)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Linkage changed from scipy's default 'single' (chains nearest-neighbour pairs into long, stringy clusters) to 'ward' (minimizes within-cluster variance → compact, convex regions)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Cut height (k) chosen 3–5 by the same combined separation score</a:t>
            </a:r>
          </a:p>
          <a:p>
            <a:pPr>
              <a:spcAft>
                <a:spcPts val="800"/>
              </a:spcAft>
              <a:defRPr sz="1700" b="1">
                <a:solidFill>
                  <a:srgbClr val="142523"/>
                </a:solidFill>
              </a:defRPr>
            </a:pPr>
            <a:r>
              <a:t>• Divisive (bisecting k-means — hand-built; scikit-learn has no divisive clustering class)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Each 2-way split's inner KMeans uses n_init=10 (explicit, not version-dependent 'auto') and random_state=42 (sklearn default is None / non-reproducible)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Split-selection rule is deliberate: always bisect the cluster with the largest current SSE, so splits are spent where they most increase separation</a:t>
            </a:r>
          </a:p>
          <a:p>
            <a:pPr>
              <a:spcAft>
                <a:spcPts val="400"/>
              </a:spcAft>
              <a:defRPr sz="1400" b="0">
                <a:solidFill>
                  <a:srgbClr val="5C716E"/>
                </a:solidFill>
              </a:defRPr>
            </a:pPr>
            <a:r>
              <a:t>    – k chosen 3–5 by the same combined separation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23"/>
                </a:solidFill>
                <a:latin typeface="Georgia"/>
              </a:defRPr>
            </a:pPr>
            <a:r>
              <a:t>Results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069848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  <a:gridCol w="640080"/>
                <a:gridCol w="1554480"/>
                <a:gridCol w="1737360"/>
                <a:gridCol w="1371600"/>
              </a:tblGrid>
              <a:tr h="34861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Poster</a:t>
                      </a:r>
                    </a:p>
                  </a:txBody>
                  <a:tcPr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Silhouette</a:t>
                      </a:r>
                    </a:p>
                  </a:txBody>
                  <a:tcPr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Davies-Bouldin</a:t>
                      </a:r>
                    </a:p>
                  </a:txBody>
                  <a:tcPr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Noise %</a:t>
                      </a:r>
                    </a:p>
                  </a:txBody>
                  <a:tcPr>
                    <a:solidFill>
                      <a:srgbClr val="1F6F63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ArminHofman-1955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20.4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BarryCeck-1988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Agglomerative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0.461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0.739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DavidCarson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23.2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DavidCarson-1990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Divisive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0.571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0.609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EllaRosenblatt-2021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Agglomerative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IrisChung-2015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Agglomerative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0.431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0.730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JanTschichold-1927-DieFrauohneNamen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JanTschichold-1938-Der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Agglomerative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0.642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0.475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JoostSchmidt-1923-Saatliches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PaulRand-1947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Divisive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0.545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0.648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PaulaScher-1995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Divisive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ScottBarry-2010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0.524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0.584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SeanAlatorre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11.3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bookcover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Agglomerative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0.473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0.749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DCEEE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nancy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0.387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523"/>
                          </a:solidFill>
                        </a:defRPr>
                      </a:pPr>
                      <a:r>
                        <a:t>24.2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Armin Hofman- 1955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DBSCAN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DBSCAN wins: highest separation score (0.796 after a 20% noise discount), silhouette 0.750, Davies-Bouldin 0.324; Agglomerative scored 0.031 (silhouette 0.635, DB 0.434); Divisive scored 0.009 (silhouette 0.637, DB 0.441).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(DBSCAN)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(DBSCAN)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Barry Ceck - 1988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Agglomerative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Agglomerative wins: highest separation score (1.000), silhouette 0.461, Davies-Bouldin 0.739; DBSCAN scored 0.000 (silhouette 0.130, DB 0.903, 4% noise); Divisive scored 0.899 (silhouette 0.449, DB 0.766).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(Agglomerative)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(Agglomerative)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David Carson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DBSCAN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DBSCAN wins: highest separation score (0.768 after a 23% noise discount), silhouette 0.525, Davies-Bouldin 0.515; Agglomerative scored 0.156 (silhouette 0.470, DB 0.643); Divisive scored 0.429 (silhouette 0.517, DB 0.700).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(DBSCAN)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(DBSCAN)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David Carson - 1990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Divisive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Divisive wins: highest separation score (0.709), silhouette 0.571, Davies-Bouldin 0.609; DBSCAN scored 0.433 (silhouette 0.532, DB 0.582, 13% noise); Agglomerative scored 0.410 (silhouette 0.564, DB 0.628).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(Divisive)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(Divisive)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Ella Rosenblatt- 2021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Agglomerative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Agglomerative wins: highest separation score (0.500), silhouette 0.574, Davies-Bouldin 0.584; DBSCAN scored 0.455 (silhouette 0.500, DB 0.532, 9% noise); Divisive scored 0.444 (silhouette 0.557, DB 0.577).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(Agglomerative)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(Agglomerative)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Iris Chung- 2015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Agglomerative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Agglomerative wins: highest separation score (0.655), silhouette 0.431, Davies-Bouldin 0.730; DBSCAN scored 0.485 (silhouette 0.399, DB 0.521, 3% noise); Divisive scored 0.121 (silhouette 0.407, DB 0.824).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(Agglomerative)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(Agglomerative)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Jan Tschichold-1927-Die Frau ohne Namen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DBSCAN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DBSCAN wins: highest separation score (0.912 after a 9% noise discount), silhouette 0.626, Davies-Bouldin 0.444; Agglomerative scored 0.191 (silhouette 0.501, DB 0.669); Divisive scored 0.000 (silhouette 0.484, DB 0.748).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(DBSCAN)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(DBSCAN)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Jan Tschichold-1938-Der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Agglomerative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Agglomerative wins: highest separation score (1.000), silhouette 0.642, Davies-Bouldin 0.475; DBSCAN scored 0.018 (silhouette 0.608, DB 0.531, 2% noise); Divisive scored 0.096 (silhouette 0.606, DB 0.520).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(Agglomerative)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(Agglomerative)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Joost Schmidt-1923-Saatliches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DBSCAN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DBSCAN wins: highest separation score (0.943 after a 6% noise discount), silhouette 0.515, Davies-Bouldin 0.459; Agglomerative scored 0.555 (silhouette 0.499, DB 0.690); Divisive scored 0.000 (silhouette 0.432, DB 0.789).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(DBSCAN)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(DBSCAN)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Paul Rand, 1947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Divisive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Divisive wins: highest separation score (0.670), silhouette 0.545, Davies-Bouldin 0.648; DBSCAN scored 0.451 (silhouette 0.476, DB 0.519, 10% noise); Agglomerative scored 0.230 (silhouette 0.508, DB 0.714).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(Divisive)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(Divisive)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Paula Scher - 1995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Divisive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Divisive wins: highest separation score (0.588), silhouette 0.479, Davies-Bouldin 0.763; DBSCAN scored 0.484 (silhouette 0.280, DB 0.718, 3% noise); Agglomerative scored 0.423 (silhouette 0.449, DB 0.773).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(Divisive)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(Divisive)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Scott Barry- 2010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DBSCAN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DBSCAN wins: highest separation score (0.976 after a 2% noise discount), silhouette 0.524, Davies-Bouldin 0.584; Agglomerative scored 0.703 (silhouette 0.521, DB 0.664); Divisive scored 0.000 (silhouette 0.452, DB 0.730).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(DBSCAN)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(DBSCAN)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Sean Alatorre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DBSCAN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DBSCAN wins: highest separation score (0.887 after a 11% noise discount), silhouette 0.583, Davies-Bouldin 0.462; Agglomerative scored 0.343 (silhouette 0.542, DB 0.568); Divisive scored 0.000 (silhouette 0.533, DB 0.671).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(DBSCAN)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(DBSCAN)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bookcover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Agglomerative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Agglomerative wins: highest separation score (1.000), silhouette 0.473, Davies-Bouldin 0.749; DBSCAN scored 0.000 (silhouette 0.047, DB 1.302, 5% noise); Divisive scored 0.837 (silhouette 0.424, DB 0.865).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(Agglomerative)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(Agglomerative)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403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523"/>
                </a:solidFill>
                <a:latin typeface="Georgia"/>
              </a:defRPr>
            </a:pPr>
            <a:r>
              <a:t>nancy poster</a:t>
            </a:r>
          </a:p>
        </p:txBody>
      </p:sp>
      <p:pic>
        <p:nvPicPr>
          <p:cNvPr id="3" name="Picture 2" descr="dbsca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13232"/>
            <a:ext cx="2590495" cy="1726997"/>
          </a:xfrm>
          <a:prstGeom prst="rect">
            <a:avLst/>
          </a:prstGeom>
          <a:ln w="38100">
            <a:solidFill>
              <a:srgbClr val="1F6F6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74320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6F63"/>
                </a:solidFill>
              </a:defRPr>
            </a:pPr>
            <a:r>
              <a:t>★ DBSCAN</a:t>
            </a:r>
          </a:p>
        </p:txBody>
      </p:sp>
      <p:pic>
        <p:nvPicPr>
          <p:cNvPr id="5" name="Picture 4" descr="agglomerative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543" y="713232"/>
            <a:ext cx="2590495" cy="1726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4543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Agglomerative</a:t>
            </a:r>
          </a:p>
        </p:txBody>
      </p:sp>
      <p:pic>
        <p:nvPicPr>
          <p:cNvPr id="7" name="Picture 6" descr="divisive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766" y="713232"/>
            <a:ext cx="2590495" cy="172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4766" y="2458516"/>
            <a:ext cx="259049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C716E"/>
                </a:solidFill>
              </a:defRPr>
            </a:pPr>
            <a:r>
              <a:t>Divisive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0709" y="713232"/>
            <a:ext cx="3496665" cy="2001316"/>
          </a:xfrm>
          <a:prstGeom prst="roundRect">
            <a:avLst/>
          </a:prstGeom>
          <a:solidFill>
            <a:srgbClr val="DCEEEA"/>
          </a:solidFill>
          <a:ln w="12700">
            <a:solidFill>
              <a:srgbClr val="1F6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500" b="1">
                <a:solidFill>
                  <a:srgbClr val="1F6F63"/>
                </a:solidFill>
              </a:defRPr>
            </a:pPr>
            <a:r>
              <a:t>Best method: DBSCAN</a:t>
            </a:r>
          </a:p>
          <a:p>
            <a:pPr>
              <a:spcBef>
                <a:spcPts val="600"/>
              </a:spcBef>
              <a:defRPr sz="1100">
                <a:solidFill>
                  <a:srgbClr val="142523"/>
                </a:solidFill>
              </a:defRPr>
            </a:pPr>
            <a:r>
              <a:t>DBSCAN wins: highest separation score (0.758 after a 24% noise discount), silhouette 0.696, Davies-Bouldin 0.387; Agglomerative scored 0.337 (silhouette 0.588, DB 0.557); Divisive scored 0.000 (silhouette 0.534, DB 0.644).</a:t>
            </a:r>
          </a:p>
        </p:txBody>
      </p:sp>
      <p:pic>
        <p:nvPicPr>
          <p:cNvPr id="10" name="Picture 9" descr="pat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447" y="2897428"/>
            <a:ext cx="4206240" cy="2804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244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Path (DBSCAN)</a:t>
            </a:r>
          </a:p>
        </p:txBody>
      </p:sp>
      <p:pic>
        <p:nvPicPr>
          <p:cNvPr id="12" name="path_animatio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33007" y="2897428"/>
            <a:ext cx="4206240" cy="2804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3007" y="57290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C716E"/>
                </a:solidFill>
              </a:defRPr>
            </a:pPr>
            <a:r>
              <a:t>Animation (DBSCAN) — click to play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