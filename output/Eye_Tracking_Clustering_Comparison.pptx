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microsoft.com/office/2007/relationships/media" Target="../media/media1.mp4"/><Relationship Id="rId8" Type="http://schemas.openxmlformats.org/officeDocument/2006/relationships/video" Target="../media/media1.mp4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jpg"/><Relationship Id="rId6" Type="http://schemas.openxmlformats.org/officeDocument/2006/relationships/image" Target="../media/image10.png"/><Relationship Id="rId7" Type="http://schemas.microsoft.com/office/2007/relationships/media" Target="../media/media2.mp4"/><Relationship Id="rId8" Type="http://schemas.openxmlformats.org/officeDocument/2006/relationships/video" Target="../media/media2.mp4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png"/><Relationship Id="rId7" Type="http://schemas.microsoft.com/office/2007/relationships/media" Target="../media/media3.mp4"/><Relationship Id="rId8" Type="http://schemas.openxmlformats.org/officeDocument/2006/relationships/video" Target="../media/media3.mp4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Relationship Id="rId6" Type="http://schemas.openxmlformats.org/officeDocument/2006/relationships/image" Target="../media/image20.png"/><Relationship Id="rId7" Type="http://schemas.microsoft.com/office/2007/relationships/media" Target="../media/media4.mp4"/><Relationship Id="rId8" Type="http://schemas.openxmlformats.org/officeDocument/2006/relationships/video" Target="../media/media4.mp4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image" Target="../media/image25.png"/><Relationship Id="rId7" Type="http://schemas.microsoft.com/office/2007/relationships/media" Target="../media/media5.mp4"/><Relationship Id="rId8" Type="http://schemas.openxmlformats.org/officeDocument/2006/relationships/video" Target="../media/media5.mp4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jpg"/><Relationship Id="rId6" Type="http://schemas.openxmlformats.org/officeDocument/2006/relationships/image" Target="../media/image30.png"/><Relationship Id="rId7" Type="http://schemas.microsoft.com/office/2007/relationships/media" Target="../media/media6.mp4"/><Relationship Id="rId8" Type="http://schemas.openxmlformats.org/officeDocument/2006/relationships/video" Target="../media/media6.mp4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image" Target="../media/image35.png"/><Relationship Id="rId7" Type="http://schemas.microsoft.com/office/2007/relationships/media" Target="../media/media7.mp4"/><Relationship Id="rId8" Type="http://schemas.openxmlformats.org/officeDocument/2006/relationships/video" Target="../media/media7.mp4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jpg"/><Relationship Id="rId6" Type="http://schemas.openxmlformats.org/officeDocument/2006/relationships/image" Target="../media/image40.png"/><Relationship Id="rId7" Type="http://schemas.microsoft.com/office/2007/relationships/media" Target="../media/media8.mp4"/><Relationship Id="rId8" Type="http://schemas.openxmlformats.org/officeDocument/2006/relationships/video" Target="../media/media8.mp4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image" Target="../media/image45.png"/><Relationship Id="rId7" Type="http://schemas.microsoft.com/office/2007/relationships/media" Target="../media/media9.mp4"/><Relationship Id="rId8" Type="http://schemas.openxmlformats.org/officeDocument/2006/relationships/video" Target="../media/media9.mp4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jpg"/><Relationship Id="rId6" Type="http://schemas.openxmlformats.org/officeDocument/2006/relationships/image" Target="../media/image50.png"/><Relationship Id="rId7" Type="http://schemas.microsoft.com/office/2007/relationships/media" Target="../media/media10.mp4"/><Relationship Id="rId8" Type="http://schemas.openxmlformats.org/officeDocument/2006/relationships/video" Target="../media/media10.mp4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image" Target="../media/image55.png"/><Relationship Id="rId7" Type="http://schemas.microsoft.com/office/2007/relationships/media" Target="../media/media11.mp4"/><Relationship Id="rId8" Type="http://schemas.openxmlformats.org/officeDocument/2006/relationships/video" Target="../media/media11.mp4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jpg"/><Relationship Id="rId6" Type="http://schemas.openxmlformats.org/officeDocument/2006/relationships/image" Target="../media/image60.png"/><Relationship Id="rId7" Type="http://schemas.microsoft.com/office/2007/relationships/media" Target="../media/media12.mp4"/><Relationship Id="rId8" Type="http://schemas.openxmlformats.org/officeDocument/2006/relationships/video" Target="../media/media12.mp4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jpg"/><Relationship Id="rId6" Type="http://schemas.openxmlformats.org/officeDocument/2006/relationships/image" Target="../media/image65.png"/><Relationship Id="rId7" Type="http://schemas.microsoft.com/office/2007/relationships/media" Target="../media/media13.mp4"/><Relationship Id="rId8" Type="http://schemas.openxmlformats.org/officeDocument/2006/relationships/video" Target="../media/media13.mp4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jpg"/><Relationship Id="rId6" Type="http://schemas.openxmlformats.org/officeDocument/2006/relationships/image" Target="../media/image70.png"/><Relationship Id="rId7" Type="http://schemas.microsoft.com/office/2007/relationships/media" Target="../media/media14.mp4"/><Relationship Id="rId8" Type="http://schemas.openxmlformats.org/officeDocument/2006/relationships/video" Target="../media/media14.mp4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jpg"/><Relationship Id="rId6" Type="http://schemas.openxmlformats.org/officeDocument/2006/relationships/image" Target="../media/image75.png"/><Relationship Id="rId7" Type="http://schemas.microsoft.com/office/2007/relationships/media" Target="../media/media15.mp4"/><Relationship Id="rId8" Type="http://schemas.openxmlformats.org/officeDocument/2006/relationships/video" Target="../media/media15.mp4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59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Georgia"/>
              </a:defRPr>
            </a:pPr>
            <a:r>
              <a:t>Eye-Tracking Region Clustering</a:t>
            </a:r>
          </a:p>
          <a:p>
            <a:pPr>
              <a:spcBef>
                <a:spcPts val="1000"/>
              </a:spcBef>
              <a:defRPr sz="2200">
                <a:solidFill>
                  <a:srgbClr val="B9EDE1"/>
                </a:solidFill>
              </a:defRPr>
            </a:pPr>
            <a:r>
              <a:t>DBSCAN vs. Agglomerative vs. Divisive Hierarchical Clustering</a:t>
            </a:r>
          </a:p>
          <a:p>
            <a:pPr>
              <a:spcBef>
                <a:spcPts val="1400"/>
              </a:spcBef>
              <a:defRPr sz="1400">
                <a:solidFill>
                  <a:srgbClr val="9BB0AC"/>
                </a:solidFill>
              </a:defRPr>
            </a:pPr>
            <a:r>
              <a:t>15 posters · 48 participants · fixation regions compared across three clustering methods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523"/>
                </a:solidFill>
                <a:latin typeface="Georgia"/>
              </a:defRPr>
            </a:pPr>
            <a:r>
              <a:t>Methodology — Parameters Changed From Library Defaults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Outlier filtering (applied before any clustering, identically for all 3 methods)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Not a library default — custom pre-filter: a fixation is dropped if its distance to its 10th-nearest neighbour exceeds median + 3×MAD (robust z-score cutoff)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Removes stray/isolated fixations (4–10% per poster) that would otherwise stretch a region's boundary or anchor their own spurious micro-cluster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DBSCAN (sklearn.cluster.DBSCAN)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Default eps=0.5, min_samples=5 are meaningless at 1936×1208 pixel scale — grid-searched eps ∈ {18…80}px × min_samples ∈ {8…30} instead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Noise-fraction gate (2–25%, capped at 40% on fallback) stops DBSCAN from "winning" via a tiny ultra-dense core with most points silently discarded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Agglomerative (scipy.cluster.hierarchy.linkage)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Linkage changed from scipy's default 'single' (chains nearest-neighbour pairs into long, stringy clusters) to 'ward' (minimizes within-cluster variance → compact, convex regions)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Divisive (bisecting k-means — hand-built; scikit-learn has no divisive clustering class)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Each 2-way split's inner KMeans uses n_init=10 (explicit, not version-dependent 'auto') and random_state=42 (sklearn default is None / non-reproducible)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Split-selection rule is deliberate: always bisect the cluster with the largest current SSE, so splits are spent where they most increase separation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All three: k is searched over a wide 3–8 range, not fixed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Which k actually gets used is decided by the rule on the next slide — Davies-Bouldin first, silhouette as a check, and a hard requirement that regions don't spatially overlap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523"/>
                </a:solidFill>
                <a:latin typeface="Georgia"/>
              </a:defRPr>
            </a:pPr>
            <a:r>
              <a:t>Choosing the Number of Regions (k)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The decision rule applied identically by DBSCAN, Agglomerative and Divisive (decide_k):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1. Davies-Bouldin is PRIMARY: keep only candidate k's within 15% of the best (lowest) Davies-Bouldin score — DB directly measures how compact regions are relative to how far apart they sit, which is exactly "distinctness"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2. Silhouette is the SECONDARY check: among those, keep only the ones within 15% of the best silhouette in that narrowed set, so a k that won on DB alone but has a clearly worse silhouette gets dropped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3. Crossing regions are disqualified outright: for every candidate k, each region's convex hull is tested against every other region's hull (separating-axis test) — if any two overlap, that k is thrown out regardless of its metrics</a:t>
            </a:r>
          </a:p>
          <a:p>
            <a:pPr>
              <a:spcAft>
                <a:spcPts val="400"/>
              </a:spcAft>
              <a:defRPr sz="1400" b="0">
                <a:solidFill>
                  <a:srgbClr val="5C716E"/>
                </a:solidFill>
              </a:defRPr>
            </a:pPr>
            <a:r>
              <a:t>    – 4. Among whatever survives steps 1–3, the LARGEST k wins — more, smaller, still-distinct regions are preferred over fewer, larger ones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Why this order: Davies-Bouldin and silhouette can both be fooled by one tiny, artificially tight cluster; the crossing check catches what neither metric sees on its own — two "distinct" clusters that still visually overlap on the poster.</a:t>
            </a:r>
          </a:p>
          <a:p>
            <a:pPr>
              <a:spcAft>
                <a:spcPts val="800"/>
              </a:spcAft>
              <a:defRPr sz="1700" b="1">
                <a:solidFill>
                  <a:srgbClr val="142523"/>
                </a:solidFill>
              </a:defRPr>
            </a:pPr>
            <a:r>
              <a:t>• Each poster's winning method is then picked by re-scoring the three methods' own decisions against each other (see Results table) — so the final choice reflects both within-method rigor and across-method comparison.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523"/>
                </a:solidFill>
                <a:latin typeface="Georgia"/>
              </a:defRPr>
            </a:pPr>
            <a:r>
              <a:t>Results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698480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  <a:gridCol w="640080"/>
                <a:gridCol w="1554480"/>
                <a:gridCol w="1737360"/>
                <a:gridCol w="1371600"/>
              </a:tblGrid>
              <a:tr h="348615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Poster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k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Silhouette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Davies-Bouldin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Noise %</a:t>
                      </a:r>
                    </a:p>
                  </a:txBody>
                  <a:tcPr>
                    <a:solidFill>
                      <a:srgbClr val="1F6F6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ArminHofman-1955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BarryCeck-1988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0.461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0.739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DavidCarson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Divisive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DavidCarson-1990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Divisive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0.571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0.609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EllaRosenblatt-2021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0.397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IrisChung-2015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0.458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0.688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JanTschichold-1927-DieFrauohneNamen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JanTschichold-1938-Der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Divisive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0.650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0.482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JoostSchmidt-1923-Saatliches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PaulRand-1947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0.600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0.389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22.2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PaulaScher-1995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0.751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ScottBarry-2010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Agglomerative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0.561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0.575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SeanAlatorre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bookcover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0.582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0.445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17.1</a:t>
                      </a:r>
                    </a:p>
                  </a:txBody>
                  <a:tcPr>
                    <a:solidFill>
                      <a:srgbClr val="DCEEE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nancy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0.646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0.428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42523"/>
                          </a:solidFill>
                        </a:defRPr>
                      </a:pPr>
                      <a:r>
                        <a:t>20.8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Armin Hofman- 1955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(0.796 after a 20% noise discount), k=3 regions, silhouette 0.750, Davies-Bouldin 0.324; Agglomerative scored 0.031 at k=3 (silhouette 0.635, DB 0.434); Divisive scored 0.009 at k=3 (silhouette 0.637, DB 0.441). k chosen per method: DBSCAN=3, Agglomerative=3, Divisive=3.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Barry Ceck - 1988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(1.000), k=4 regions, silhouette 0.461, Davies-Bouldin 0.739; DBSCAN scored 0.026 at k=7 (silhouette 0.393, DB 0.865, 8% noise); Divisive scored 0.202 at k=8 (silhouette 0.420, DB 0.873). k chosen per method: DBSCAN=7, Agglomerative=4, Divisive=8.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(Agglomerative)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(Agglomerative)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David Carson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Divisive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Divisive wins: highest separation score (0.619), k=4 regions, silhouette 0.491, Davies-Bouldin 0.666; DBSCAN scored 0.460 at k=7 (silhouette 0.449, DB 0.522, 24% noise); Agglomerative scored 0.000 at k=8 (silhouette 0.437, DB 0.712). k chosen per method: DBSCAN=7, Agglomerative=8, Divisive=4.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(Divisive)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(Divisive)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(Divisive)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David Carson - 1990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Divisive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Divisive wins: highest separation score (0.568), k=3 regions, silhouette 0.571, Davies-Bouldin 0.609; DBSCAN scored 0.409 at k=7 (silhouette 0.529, DB 0.488, 18% noise); Agglomerative scored 0.416 at k=3 (silhouette 0.564, DB 0.628). k chosen per method: DBSCAN=7, Agglomerative=3, Divisive=3.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(Divisive)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(Divisive)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(Divisive)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Ella Rosenblatt- 2021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(0.788 after a 21% noise discount), k=6 regions, silhouette 0.697, Davies-Bouldin 0.397; Agglomerative scored 0.053 at k=6 (silhouette 0.572, DB 0.604); Divisive scored 0.064 at k=5 (silhouette 0.557, DB 0.577). k chosen per method: DBSCAN=6, Agglomerative=6, Divisive=5.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Iris Chung- 2015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(0.742), k=8 regions, silhouette 0.458, Davies-Bouldin 0.688; DBSCAN scored 0.464 at k=7 (silhouette 0.400, DB 0.561, 7% noise); Divisive scored 0.360 at k=8 (silhouette 0.442, DB 0.807). k chosen per method: DBSCAN=7, Agglomerative=8, Divisive=8.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(Agglomerative)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(Agglomerative)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Jan Tschichold-1927-Die Frau ohne Namen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(0.912 after a 9% noise discount), k=7 regions, silhouette 0.626, Davies-Bouldin 0.444; Agglomerative scored 0.068 at k=8 (silhouette 0.596, DB 0.534); Divisive scored 0.082 at k=7 (silhouette 0.591, DB 0.519). k chosen per method: DBSCAN=7, Agglomerative=8, Divisive=7.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Jan Tschichold-1938-Der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Divisive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Divisive wins: highest separation score (1.000), k=6 regions, silhouette 0.650, Davies-Bouldin 0.482; DBSCAN scored 0.000 at k=6 (silhouette 0.608, DB 0.531, 2% noise); Agglomerative scored 0.730 at k=6 (silhouette 0.634, DB 0.490). k chosen per method: DBSCAN=6, Agglomerative=6, Divisive=6.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(Divisive)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(Divisive)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(Divisive)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Joost Schmidt-1923-Saatliches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(0.712 after a 8% noise discount), k=6 regions, silhouette 0.477, Davies-Bouldin 0.483; Agglomerative scored 0.500 at k=3 (silhouette 0.524, DB 0.789); Divisive scored 0.071 at k=8 (silhouette 0.418, DB 0.746). k chosen per method: DBSCAN=6, Agglomerative=3, Divisive=8.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Paul Rand, 1947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(0.778 after a 22% noise discount), k=7 regions, silhouette 0.600, Davies-Bouldin 0.389; Agglomerative scored 0.000 at k=8 (silhouette 0.498, DB 0.719); Divisive scored 0.235 at k=4 (silhouette 0.533, DB 0.676). k chosen per method: DBSCAN=7, Agglomerative=8, Divisive=4.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Paula Scher - 1995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(0.794), k=8 regions, silhouette 0.415, Davies-Bouldin 0.751; DBSCAN scored 0.484 at k=4 (silhouette 0.280, DB 0.718, 3% noise); Divisive scored 0.500 at k=4 (silhouette 0.432, DB 0.830). k chosen per method: DBSCAN=4, Agglomerative=8, Divisive=4.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(Agglomerative)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(Agglomerative)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Scott Barry- 2010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Agglomerative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Agglomerative wins: highest separation score (1.000), k=8 regions, silhouette 0.561, Davies-Bouldin 0.575; DBSCAN scored 0.415 at k=6 (silhouette 0.457, DB 0.589, 3% noise); Divisive scored 0.291 at k=8 (silhouette 0.518, DB 0.668). k chosen per method: DBSCAN=6, Agglomerative=8, Divisive=8.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(Agglomerative)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(Agglomerative)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(Agglomerative)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Sean Alatorre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(0.806 after a 19% noise discount), k=8 regions, silhouette 0.600, Davies-Bouldin 0.475; Agglomerative scored 0.103 at k=6 (silhouette 0.539, DB 0.626); Divisive scored 0.231 at k=7 (silhouette 0.567, DB 0.666). k chosen per method: DBSCAN=8, Agglomerative=6, Divisive=7.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bookcover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(0.829 after a 17% noise discount), k=8 regions, silhouette 0.582, Davies-Bouldin 0.445; Agglomerative scored 0.183 at k=8 (silhouette 0.521, DB 0.670); Divisive scored 0.036 at k=8 (silhouette 0.485, DB 0.653). k chosen per method: DBSCAN=8, Agglomerative=8, Divisive=8.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09728"/>
            <a:ext cx="1164031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2523"/>
                </a:solidFill>
                <a:latin typeface="Georgia"/>
              </a:defRPr>
            </a:pPr>
            <a:r>
              <a:t>nancy poster</a:t>
            </a:r>
          </a:p>
        </p:txBody>
      </p:sp>
      <p:pic>
        <p:nvPicPr>
          <p:cNvPr id="3" name="Picture 2" descr="dbscan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13232"/>
            <a:ext cx="2590495" cy="1726997"/>
          </a:xfrm>
          <a:prstGeom prst="rect">
            <a:avLst/>
          </a:prstGeom>
          <a:ln w="38100">
            <a:solidFill>
              <a:srgbClr val="1F6F6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274320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F6F63"/>
                </a:solidFill>
              </a:defRPr>
            </a:pPr>
            <a:r>
              <a:t>★ DBSCAN</a:t>
            </a:r>
          </a:p>
        </p:txBody>
      </p:sp>
      <p:pic>
        <p:nvPicPr>
          <p:cNvPr id="5" name="Picture 4" descr="agglomerative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4543" y="713232"/>
            <a:ext cx="2590495" cy="1726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74543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Agglomerative</a:t>
            </a:r>
          </a:p>
        </p:txBody>
      </p:sp>
      <p:pic>
        <p:nvPicPr>
          <p:cNvPr id="7" name="Picture 6" descr="divisive_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766" y="713232"/>
            <a:ext cx="2590495" cy="1726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74766" y="2458516"/>
            <a:ext cx="2590495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5C716E"/>
                </a:solidFill>
              </a:defRPr>
            </a:pPr>
            <a:r>
              <a:t>Divisive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20709" y="713232"/>
            <a:ext cx="3496665" cy="2001316"/>
          </a:xfrm>
          <a:prstGeom prst="roundRect">
            <a:avLst/>
          </a:prstGeom>
          <a:solidFill>
            <a:srgbClr val="DCEEEA"/>
          </a:solidFill>
          <a:ln w="12700">
            <a:solidFill>
              <a:srgbClr val="1F6F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500" b="1">
                <a:solidFill>
                  <a:srgbClr val="1F6F63"/>
                </a:solidFill>
              </a:defRPr>
            </a:pPr>
            <a:r>
              <a:t>Best method: DBSCAN</a:t>
            </a:r>
          </a:p>
          <a:p>
            <a:pPr>
              <a:spcBef>
                <a:spcPts val="600"/>
              </a:spcBef>
              <a:defRPr sz="1100">
                <a:solidFill>
                  <a:srgbClr val="142523"/>
                </a:solidFill>
              </a:defRPr>
            </a:pPr>
            <a:r>
              <a:t>DBSCAN wins: highest separation score (0.792 after a 21% noise discount), k=5 regions, silhouette 0.646, Davies-Bouldin 0.428; Agglomerative scored 0.610 at k=4 (silhouette 0.588, DB 0.557); Divisive scored 0.000 at k=5 (silhouette 0.470, DB 0.714). k chosen per method: DBSCAN=5, Agglomerative=4, Divisive=5.</a:t>
            </a:r>
          </a:p>
        </p:txBody>
      </p:sp>
      <p:pic>
        <p:nvPicPr>
          <p:cNvPr id="10" name="Picture 9" descr="pa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" y="2897428"/>
            <a:ext cx="356616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372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Region path (DBSCAN)</a:t>
            </a:r>
          </a:p>
        </p:txBody>
      </p:sp>
      <p:pic>
        <p:nvPicPr>
          <p:cNvPr id="12" name="Picture 11" descr="scanpath_pl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7" y="2897428"/>
            <a:ext cx="3566160" cy="2651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276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Scanpath (DBSCAN)</a:t>
            </a:r>
          </a:p>
        </p:txBody>
      </p:sp>
      <p:pic>
        <p:nvPicPr>
          <p:cNvPr id="14" name="path_animation.mp4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061807" y="2897428"/>
            <a:ext cx="356616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61807" y="530230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5C716E"/>
                </a:solidFill>
              </a:defRPr>
            </a:pPr>
            <a:r>
              <a:t>Animation (DBSCAN) — click to play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